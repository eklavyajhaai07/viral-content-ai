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</p:sldIdLst>
  <p:sldSz cx="18288000" cy="10287000"/>
  <p:notesSz cx="6858000" cy="9144000"/>
  <p:embeddedFontLst>
    <p:embeddedFont>
      <p:font typeface="Aptos Bold" panose="020B0004020202020204" charset="0"/>
      <p:regular r:id="rId8"/>
    </p:embeddedFont>
    <p:embeddedFont>
      <p:font typeface="Arial Bold" panose="020B0704020202020204" pitchFamily="34" charset="0"/>
      <p:regular r:id="rId9"/>
      <p:bold r:id="rId10"/>
    </p:embeddedFont>
    <p:embeddedFont>
      <p:font typeface="Montserrat Bold" panose="020B0604020202020204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946" y="11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73E8997-C0CE-4B5E-8D85-0C0C0625EA7C}" type="doc">
      <dgm:prSet loTypeId="urn:microsoft.com/office/officeart/2005/8/layout/radial4" loCatId="relationship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IN"/>
        </a:p>
      </dgm:t>
    </dgm:pt>
    <dgm:pt modelId="{945F1F97-98D1-46F3-B205-E8A7F35788C7}">
      <dgm:prSet phldrT="[Text]" phldr="0" custT="1"/>
      <dgm:spPr/>
      <dgm:t>
        <a:bodyPr/>
        <a:lstStyle/>
        <a:p>
          <a:r>
            <a:rPr lang="en-US" sz="2000" dirty="0"/>
            <a:t>Who face these problems?</a:t>
          </a:r>
          <a:endParaRPr lang="en-IN" sz="2000" dirty="0"/>
        </a:p>
      </dgm:t>
    </dgm:pt>
    <dgm:pt modelId="{20CF5D07-706E-4B23-B17C-81343091C610}" type="parTrans" cxnId="{D1E4E7DD-7F98-4FE0-BAC8-8716FF88BE8E}">
      <dgm:prSet/>
      <dgm:spPr/>
      <dgm:t>
        <a:bodyPr/>
        <a:lstStyle/>
        <a:p>
          <a:endParaRPr lang="en-IN"/>
        </a:p>
      </dgm:t>
    </dgm:pt>
    <dgm:pt modelId="{27852834-5DA1-4463-B31D-30B6E6F85402}" type="sibTrans" cxnId="{D1E4E7DD-7F98-4FE0-BAC8-8716FF88BE8E}">
      <dgm:prSet/>
      <dgm:spPr/>
      <dgm:t>
        <a:bodyPr/>
        <a:lstStyle/>
        <a:p>
          <a:endParaRPr lang="en-IN"/>
        </a:p>
      </dgm:t>
    </dgm:pt>
    <dgm:pt modelId="{416206F3-77CC-43E5-9304-39335A2C285D}">
      <dgm:prSet phldrT="[Text]" custT="1"/>
      <dgm:spPr/>
      <dgm:t>
        <a:bodyPr/>
        <a:lstStyle/>
        <a:p>
          <a:r>
            <a:rPr lang="en-US" sz="2200" dirty="0">
              <a:latin typeface="Aptos"/>
              <a:ea typeface="Aptos"/>
              <a:cs typeface="Aptos"/>
              <a:sym typeface="Aptos"/>
            </a:rPr>
            <a:t>Content creators</a:t>
          </a:r>
          <a:endParaRPr lang="en-IN" sz="2200" dirty="0"/>
        </a:p>
      </dgm:t>
    </dgm:pt>
    <dgm:pt modelId="{7F3B914E-A6D7-4EF8-B84E-B4DB85A4697D}" type="parTrans" cxnId="{48416ADB-BF4F-465D-833A-40B3FF2A860D}">
      <dgm:prSet/>
      <dgm:spPr/>
      <dgm:t>
        <a:bodyPr/>
        <a:lstStyle/>
        <a:p>
          <a:endParaRPr lang="en-IN"/>
        </a:p>
      </dgm:t>
    </dgm:pt>
    <dgm:pt modelId="{DE4F6531-1EBE-47D2-9BE7-A620E429E6DE}" type="sibTrans" cxnId="{48416ADB-BF4F-465D-833A-40B3FF2A860D}">
      <dgm:prSet/>
      <dgm:spPr/>
      <dgm:t>
        <a:bodyPr/>
        <a:lstStyle/>
        <a:p>
          <a:endParaRPr lang="en-IN"/>
        </a:p>
      </dgm:t>
    </dgm:pt>
    <dgm:pt modelId="{0A817D98-8DF5-4F0C-A1AA-923EEA94C595}">
      <dgm:prSet phldrT="[Text]" custT="1"/>
      <dgm:spPr/>
      <dgm:t>
        <a:bodyPr/>
        <a:lstStyle/>
        <a:p>
          <a:r>
            <a:rPr lang="en-IN" sz="2200" dirty="0">
              <a:latin typeface="Aptos"/>
              <a:ea typeface="Aptos"/>
              <a:cs typeface="Aptos"/>
              <a:sym typeface="Aptos"/>
            </a:rPr>
            <a:t>Influencers</a:t>
          </a:r>
          <a:endParaRPr lang="en-IN" sz="2200" dirty="0"/>
        </a:p>
      </dgm:t>
    </dgm:pt>
    <dgm:pt modelId="{59043245-7506-4013-BAD2-00BE24B672B3}" type="parTrans" cxnId="{D835FAB8-3884-46ED-B1D5-A6BE2D85999D}">
      <dgm:prSet/>
      <dgm:spPr/>
      <dgm:t>
        <a:bodyPr/>
        <a:lstStyle/>
        <a:p>
          <a:endParaRPr lang="en-IN"/>
        </a:p>
      </dgm:t>
    </dgm:pt>
    <dgm:pt modelId="{90E68173-4135-4C22-821F-DD2510CB5015}" type="sibTrans" cxnId="{D835FAB8-3884-46ED-B1D5-A6BE2D85999D}">
      <dgm:prSet/>
      <dgm:spPr/>
      <dgm:t>
        <a:bodyPr/>
        <a:lstStyle/>
        <a:p>
          <a:endParaRPr lang="en-IN"/>
        </a:p>
      </dgm:t>
    </dgm:pt>
    <dgm:pt modelId="{539E617A-AF1C-4CED-AD03-991AA1956055}">
      <dgm:prSet phldrT="[Text]" custT="1"/>
      <dgm:spPr/>
      <dgm:t>
        <a:bodyPr/>
        <a:lstStyle/>
        <a:p>
          <a:r>
            <a:rPr lang="en-IN" sz="2200" dirty="0">
              <a:latin typeface="Aptos"/>
              <a:ea typeface="Aptos"/>
              <a:cs typeface="Aptos"/>
              <a:sym typeface="Aptos"/>
            </a:rPr>
            <a:t>Digital marketing agencies</a:t>
          </a:r>
          <a:endParaRPr lang="en-IN" sz="2200" dirty="0"/>
        </a:p>
      </dgm:t>
    </dgm:pt>
    <dgm:pt modelId="{0F1CE7F0-D633-470D-B756-37A4B3CC90D9}" type="parTrans" cxnId="{A9D5AF74-FFE2-4F3B-A240-B0B0660F4D82}">
      <dgm:prSet/>
      <dgm:spPr/>
      <dgm:t>
        <a:bodyPr/>
        <a:lstStyle/>
        <a:p>
          <a:endParaRPr lang="en-IN"/>
        </a:p>
      </dgm:t>
    </dgm:pt>
    <dgm:pt modelId="{A05AB73D-52F1-4FA9-A3EE-0A6E313EDA79}" type="sibTrans" cxnId="{A9D5AF74-FFE2-4F3B-A240-B0B0660F4D82}">
      <dgm:prSet/>
      <dgm:spPr/>
      <dgm:t>
        <a:bodyPr/>
        <a:lstStyle/>
        <a:p>
          <a:endParaRPr lang="en-IN"/>
        </a:p>
      </dgm:t>
    </dgm:pt>
    <dgm:pt modelId="{A4DBE2AB-3352-41B7-A893-1FFD5B1DA5C1}" type="pres">
      <dgm:prSet presAssocID="{873E8997-C0CE-4B5E-8D85-0C0C0625EA7C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62CB637A-5B10-455E-BFFA-2895F2993179}" type="pres">
      <dgm:prSet presAssocID="{945F1F97-98D1-46F3-B205-E8A7F35788C7}" presName="centerShape" presStyleLbl="node0" presStyleIdx="0" presStyleCnt="1"/>
      <dgm:spPr/>
    </dgm:pt>
    <dgm:pt modelId="{E05D2A13-C5DA-43BE-905C-77674F1F596E}" type="pres">
      <dgm:prSet presAssocID="{7F3B914E-A6D7-4EF8-B84E-B4DB85A4697D}" presName="parTrans" presStyleLbl="bgSibTrans2D1" presStyleIdx="0" presStyleCnt="3"/>
      <dgm:spPr/>
    </dgm:pt>
    <dgm:pt modelId="{BC3389C5-3C1A-44D2-BBD2-66853A7AE789}" type="pres">
      <dgm:prSet presAssocID="{416206F3-77CC-43E5-9304-39335A2C285D}" presName="node" presStyleLbl="node1" presStyleIdx="0" presStyleCnt="3">
        <dgm:presLayoutVars>
          <dgm:bulletEnabled val="1"/>
        </dgm:presLayoutVars>
      </dgm:prSet>
      <dgm:spPr/>
    </dgm:pt>
    <dgm:pt modelId="{17547E40-1EE1-4EC8-A356-3A9470EEC4BD}" type="pres">
      <dgm:prSet presAssocID="{59043245-7506-4013-BAD2-00BE24B672B3}" presName="parTrans" presStyleLbl="bgSibTrans2D1" presStyleIdx="1" presStyleCnt="3"/>
      <dgm:spPr/>
    </dgm:pt>
    <dgm:pt modelId="{A8710ACE-E6F7-4B90-B245-B915F916700C}" type="pres">
      <dgm:prSet presAssocID="{0A817D98-8DF5-4F0C-A1AA-923EEA94C595}" presName="node" presStyleLbl="node1" presStyleIdx="1" presStyleCnt="3">
        <dgm:presLayoutVars>
          <dgm:bulletEnabled val="1"/>
        </dgm:presLayoutVars>
      </dgm:prSet>
      <dgm:spPr/>
    </dgm:pt>
    <dgm:pt modelId="{03CF41AD-FB2A-4369-8374-538101E0ACC8}" type="pres">
      <dgm:prSet presAssocID="{0F1CE7F0-D633-470D-B756-37A4B3CC90D9}" presName="parTrans" presStyleLbl="bgSibTrans2D1" presStyleIdx="2" presStyleCnt="3"/>
      <dgm:spPr/>
    </dgm:pt>
    <dgm:pt modelId="{C0FBB7D5-4857-40C4-90F5-FA650DF20C81}" type="pres">
      <dgm:prSet presAssocID="{539E617A-AF1C-4CED-AD03-991AA1956055}" presName="node" presStyleLbl="node1" presStyleIdx="2" presStyleCnt="3">
        <dgm:presLayoutVars>
          <dgm:bulletEnabled val="1"/>
        </dgm:presLayoutVars>
      </dgm:prSet>
      <dgm:spPr/>
    </dgm:pt>
  </dgm:ptLst>
  <dgm:cxnLst>
    <dgm:cxn modelId="{3B715B1D-565F-43C8-B27F-A4226903F236}" type="presOf" srcId="{873E8997-C0CE-4B5E-8D85-0C0C0625EA7C}" destId="{A4DBE2AB-3352-41B7-A893-1FFD5B1DA5C1}" srcOrd="0" destOrd="0" presId="urn:microsoft.com/office/officeart/2005/8/layout/radial4"/>
    <dgm:cxn modelId="{B77E8038-5B2B-45B2-9C85-E9656ECD6C0E}" type="presOf" srcId="{539E617A-AF1C-4CED-AD03-991AA1956055}" destId="{C0FBB7D5-4857-40C4-90F5-FA650DF20C81}" srcOrd="0" destOrd="0" presId="urn:microsoft.com/office/officeart/2005/8/layout/radial4"/>
    <dgm:cxn modelId="{5298615E-6B10-4691-AC41-9DAD3C50595F}" type="presOf" srcId="{945F1F97-98D1-46F3-B205-E8A7F35788C7}" destId="{62CB637A-5B10-455E-BFFA-2895F2993179}" srcOrd="0" destOrd="0" presId="urn:microsoft.com/office/officeart/2005/8/layout/radial4"/>
    <dgm:cxn modelId="{88E33774-7681-4069-B8BD-6360B0589E4F}" type="presOf" srcId="{416206F3-77CC-43E5-9304-39335A2C285D}" destId="{BC3389C5-3C1A-44D2-BBD2-66853A7AE789}" srcOrd="0" destOrd="0" presId="urn:microsoft.com/office/officeart/2005/8/layout/radial4"/>
    <dgm:cxn modelId="{A9D5AF74-FFE2-4F3B-A240-B0B0660F4D82}" srcId="{945F1F97-98D1-46F3-B205-E8A7F35788C7}" destId="{539E617A-AF1C-4CED-AD03-991AA1956055}" srcOrd="2" destOrd="0" parTransId="{0F1CE7F0-D633-470D-B756-37A4B3CC90D9}" sibTransId="{A05AB73D-52F1-4FA9-A3EE-0A6E313EDA79}"/>
    <dgm:cxn modelId="{06E9E084-106C-447F-A31C-60553E3189E0}" type="presOf" srcId="{59043245-7506-4013-BAD2-00BE24B672B3}" destId="{17547E40-1EE1-4EC8-A356-3A9470EEC4BD}" srcOrd="0" destOrd="0" presId="urn:microsoft.com/office/officeart/2005/8/layout/radial4"/>
    <dgm:cxn modelId="{D835FAB8-3884-46ED-B1D5-A6BE2D85999D}" srcId="{945F1F97-98D1-46F3-B205-E8A7F35788C7}" destId="{0A817D98-8DF5-4F0C-A1AA-923EEA94C595}" srcOrd="1" destOrd="0" parTransId="{59043245-7506-4013-BAD2-00BE24B672B3}" sibTransId="{90E68173-4135-4C22-821F-DD2510CB5015}"/>
    <dgm:cxn modelId="{5D7417C6-9AF9-4E67-9FBB-4FCB72A0F0CF}" type="presOf" srcId="{0A817D98-8DF5-4F0C-A1AA-923EEA94C595}" destId="{A8710ACE-E6F7-4B90-B245-B915F916700C}" srcOrd="0" destOrd="0" presId="urn:microsoft.com/office/officeart/2005/8/layout/radial4"/>
    <dgm:cxn modelId="{7A25F6CA-AD80-4445-B267-0CB5E0168A6E}" type="presOf" srcId="{7F3B914E-A6D7-4EF8-B84E-B4DB85A4697D}" destId="{E05D2A13-C5DA-43BE-905C-77674F1F596E}" srcOrd="0" destOrd="0" presId="urn:microsoft.com/office/officeart/2005/8/layout/radial4"/>
    <dgm:cxn modelId="{3146CCD7-6BB2-4FB9-B862-E4FDA344A4FD}" type="presOf" srcId="{0F1CE7F0-D633-470D-B756-37A4B3CC90D9}" destId="{03CF41AD-FB2A-4369-8374-538101E0ACC8}" srcOrd="0" destOrd="0" presId="urn:microsoft.com/office/officeart/2005/8/layout/radial4"/>
    <dgm:cxn modelId="{48416ADB-BF4F-465D-833A-40B3FF2A860D}" srcId="{945F1F97-98D1-46F3-B205-E8A7F35788C7}" destId="{416206F3-77CC-43E5-9304-39335A2C285D}" srcOrd="0" destOrd="0" parTransId="{7F3B914E-A6D7-4EF8-B84E-B4DB85A4697D}" sibTransId="{DE4F6531-1EBE-47D2-9BE7-A620E429E6DE}"/>
    <dgm:cxn modelId="{D1E4E7DD-7F98-4FE0-BAC8-8716FF88BE8E}" srcId="{873E8997-C0CE-4B5E-8D85-0C0C0625EA7C}" destId="{945F1F97-98D1-46F3-B205-E8A7F35788C7}" srcOrd="0" destOrd="0" parTransId="{20CF5D07-706E-4B23-B17C-81343091C610}" sibTransId="{27852834-5DA1-4463-B31D-30B6E6F85402}"/>
    <dgm:cxn modelId="{EFE5F731-2997-42AE-94BA-E09698ABCF2B}" type="presParOf" srcId="{A4DBE2AB-3352-41B7-A893-1FFD5B1DA5C1}" destId="{62CB637A-5B10-455E-BFFA-2895F2993179}" srcOrd="0" destOrd="0" presId="urn:microsoft.com/office/officeart/2005/8/layout/radial4"/>
    <dgm:cxn modelId="{67BAB9AE-D612-4C59-B5E7-0224A0DF7318}" type="presParOf" srcId="{A4DBE2AB-3352-41B7-A893-1FFD5B1DA5C1}" destId="{E05D2A13-C5DA-43BE-905C-77674F1F596E}" srcOrd="1" destOrd="0" presId="urn:microsoft.com/office/officeart/2005/8/layout/radial4"/>
    <dgm:cxn modelId="{57BD2C49-2E58-4048-AACE-71700EEEC89D}" type="presParOf" srcId="{A4DBE2AB-3352-41B7-A893-1FFD5B1DA5C1}" destId="{BC3389C5-3C1A-44D2-BBD2-66853A7AE789}" srcOrd="2" destOrd="0" presId="urn:microsoft.com/office/officeart/2005/8/layout/radial4"/>
    <dgm:cxn modelId="{8B9DDF37-46F3-4737-873E-79DB18451D8B}" type="presParOf" srcId="{A4DBE2AB-3352-41B7-A893-1FFD5B1DA5C1}" destId="{17547E40-1EE1-4EC8-A356-3A9470EEC4BD}" srcOrd="3" destOrd="0" presId="urn:microsoft.com/office/officeart/2005/8/layout/radial4"/>
    <dgm:cxn modelId="{B6FBF08A-8DC7-4EB0-9DE4-5790E958AA72}" type="presParOf" srcId="{A4DBE2AB-3352-41B7-A893-1FFD5B1DA5C1}" destId="{A8710ACE-E6F7-4B90-B245-B915F916700C}" srcOrd="4" destOrd="0" presId="urn:microsoft.com/office/officeart/2005/8/layout/radial4"/>
    <dgm:cxn modelId="{85CC0C57-D411-4677-B155-F2D2471A91F7}" type="presParOf" srcId="{A4DBE2AB-3352-41B7-A893-1FFD5B1DA5C1}" destId="{03CF41AD-FB2A-4369-8374-538101E0ACC8}" srcOrd="5" destOrd="0" presId="urn:microsoft.com/office/officeart/2005/8/layout/radial4"/>
    <dgm:cxn modelId="{362F12E0-BB37-44FB-B5B1-285CA4059C8D}" type="presParOf" srcId="{A4DBE2AB-3352-41B7-A893-1FFD5B1DA5C1}" destId="{C0FBB7D5-4857-40C4-90F5-FA650DF20C81}" srcOrd="6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CB637A-5B10-455E-BFFA-2895F2993179}">
      <dsp:nvSpPr>
        <dsp:cNvPr id="0" name=""/>
        <dsp:cNvSpPr/>
      </dsp:nvSpPr>
      <dsp:spPr>
        <a:xfrm>
          <a:off x="2165385" y="2595769"/>
          <a:ext cx="1997296" cy="199729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Who face these problems?</a:t>
          </a:r>
          <a:endParaRPr lang="en-IN" sz="2000" kern="1200" dirty="0"/>
        </a:p>
      </dsp:txBody>
      <dsp:txXfrm>
        <a:off x="2457882" y="2888266"/>
        <a:ext cx="1412302" cy="1412302"/>
      </dsp:txXfrm>
    </dsp:sp>
    <dsp:sp modelId="{E05D2A13-C5DA-43BE-905C-77674F1F596E}">
      <dsp:nvSpPr>
        <dsp:cNvPr id="0" name=""/>
        <dsp:cNvSpPr/>
      </dsp:nvSpPr>
      <dsp:spPr>
        <a:xfrm rot="12900000">
          <a:off x="803483" y="2221081"/>
          <a:ext cx="1611390" cy="569229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3389C5-3C1A-44D2-BBD2-66853A7AE789}">
      <dsp:nvSpPr>
        <dsp:cNvPr id="0" name=""/>
        <dsp:cNvSpPr/>
      </dsp:nvSpPr>
      <dsp:spPr>
        <a:xfrm>
          <a:off x="475" y="1284595"/>
          <a:ext cx="1897431" cy="151794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Aptos"/>
              <a:ea typeface="Aptos"/>
              <a:cs typeface="Aptos"/>
              <a:sym typeface="Aptos"/>
            </a:rPr>
            <a:t>Content creators</a:t>
          </a:r>
          <a:endParaRPr lang="en-IN" sz="2200" kern="1200" dirty="0"/>
        </a:p>
      </dsp:txBody>
      <dsp:txXfrm>
        <a:off x="44934" y="1329054"/>
        <a:ext cx="1808513" cy="1429027"/>
      </dsp:txXfrm>
    </dsp:sp>
    <dsp:sp modelId="{17547E40-1EE1-4EC8-A356-3A9470EEC4BD}">
      <dsp:nvSpPr>
        <dsp:cNvPr id="0" name=""/>
        <dsp:cNvSpPr/>
      </dsp:nvSpPr>
      <dsp:spPr>
        <a:xfrm rot="16200000">
          <a:off x="2358338" y="1411674"/>
          <a:ext cx="1611390" cy="569229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710ACE-E6F7-4B90-B245-B915F916700C}">
      <dsp:nvSpPr>
        <dsp:cNvPr id="0" name=""/>
        <dsp:cNvSpPr/>
      </dsp:nvSpPr>
      <dsp:spPr>
        <a:xfrm>
          <a:off x="2215318" y="131621"/>
          <a:ext cx="1897431" cy="151794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>
              <a:latin typeface="Aptos"/>
              <a:ea typeface="Aptos"/>
              <a:cs typeface="Aptos"/>
              <a:sym typeface="Aptos"/>
            </a:rPr>
            <a:t>Influencers</a:t>
          </a:r>
          <a:endParaRPr lang="en-IN" sz="2200" kern="1200" dirty="0"/>
        </a:p>
      </dsp:txBody>
      <dsp:txXfrm>
        <a:off x="2259777" y="176080"/>
        <a:ext cx="1808513" cy="1429027"/>
      </dsp:txXfrm>
    </dsp:sp>
    <dsp:sp modelId="{03CF41AD-FB2A-4369-8374-538101E0ACC8}">
      <dsp:nvSpPr>
        <dsp:cNvPr id="0" name=""/>
        <dsp:cNvSpPr/>
      </dsp:nvSpPr>
      <dsp:spPr>
        <a:xfrm rot="19500000">
          <a:off x="3913194" y="2221081"/>
          <a:ext cx="1611390" cy="569229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FBB7D5-4857-40C4-90F5-FA650DF20C81}">
      <dsp:nvSpPr>
        <dsp:cNvPr id="0" name=""/>
        <dsp:cNvSpPr/>
      </dsp:nvSpPr>
      <dsp:spPr>
        <a:xfrm>
          <a:off x="4430160" y="1284595"/>
          <a:ext cx="1897431" cy="151794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>
              <a:latin typeface="Aptos"/>
              <a:ea typeface="Aptos"/>
              <a:cs typeface="Aptos"/>
              <a:sym typeface="Aptos"/>
            </a:rPr>
            <a:t>Digital marketing agencies</a:t>
          </a:r>
          <a:endParaRPr lang="en-IN" sz="2200" kern="1200" dirty="0"/>
        </a:p>
      </dsp:txBody>
      <dsp:txXfrm>
        <a:off x="4474619" y="1329054"/>
        <a:ext cx="1808513" cy="14290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hyperlink" Target="mailto:hackathon.info@gandhinagaruni.ac.in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craftathon.gu-tech.org/" TargetMode="Externa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.xml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12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hackathon.info@gandhinagaruni.ac.in" TargetMode="External"/><Relationship Id="rId11" Type="http://schemas.openxmlformats.org/officeDocument/2006/relationships/diagramColors" Target="../diagrams/colors1.xml"/><Relationship Id="rId5" Type="http://schemas.openxmlformats.org/officeDocument/2006/relationships/hyperlink" Target="https://craftathon.gu-tech.org/" TargetMode="External"/><Relationship Id="rId10" Type="http://schemas.openxmlformats.org/officeDocument/2006/relationships/diagramQuickStyle" Target="../diagrams/quickStyle1.xml"/><Relationship Id="rId4" Type="http://schemas.openxmlformats.org/officeDocument/2006/relationships/image" Target="../media/image4.jpeg"/><Relationship Id="rId9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hackathon.info@gandhinagaruni.ac.in" TargetMode="External"/><Relationship Id="rId5" Type="http://schemas.openxmlformats.org/officeDocument/2006/relationships/hyperlink" Target="https://craftathon.gu-tech.org/" TargetMode="Externa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hackathon.info@gandhinagaruni.ac.in" TargetMode="External"/><Relationship Id="rId11" Type="http://schemas.openxmlformats.org/officeDocument/2006/relationships/image" Target="../media/image9.jpeg"/><Relationship Id="rId5" Type="http://schemas.openxmlformats.org/officeDocument/2006/relationships/hyperlink" Target="https://craftathon.gu-tech.org/" TargetMode="External"/><Relationship Id="rId10" Type="http://schemas.openxmlformats.org/officeDocument/2006/relationships/image" Target="../media/image8.png"/><Relationship Id="rId4" Type="http://schemas.openxmlformats.org/officeDocument/2006/relationships/image" Target="../media/image4.jpeg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hackathon.info@gandhinagaruni.ac.in" TargetMode="External"/><Relationship Id="rId11" Type="http://schemas.openxmlformats.org/officeDocument/2006/relationships/image" Target="../media/image13.png"/><Relationship Id="rId5" Type="http://schemas.openxmlformats.org/officeDocument/2006/relationships/hyperlink" Target="https://craftathon.gu-tech.org/" TargetMode="External"/><Relationship Id="rId10" Type="http://schemas.openxmlformats.org/officeDocument/2006/relationships/image" Target="../media/image12.png"/><Relationship Id="rId4" Type="http://schemas.openxmlformats.org/officeDocument/2006/relationships/image" Target="../media/image4.jpe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hackathon.info@gandhinagaruni.ac.in" TargetMode="External"/><Relationship Id="rId5" Type="http://schemas.openxmlformats.org/officeDocument/2006/relationships/hyperlink" Target="https://craftathon.gu-tech.org/" TargetMode="External"/><Relationship Id="rId4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1999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9897894" y="1517028"/>
            <a:ext cx="5607939" cy="493966"/>
            <a:chOff x="0" y="0"/>
            <a:chExt cx="7477252" cy="65862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477252" cy="658622"/>
            </a:xfrm>
            <a:custGeom>
              <a:avLst/>
              <a:gdLst/>
              <a:ahLst/>
              <a:cxnLst/>
              <a:rect l="l" t="t" r="r" b="b"/>
              <a:pathLst>
                <a:path w="7477252" h="658622">
                  <a:moveTo>
                    <a:pt x="0" y="0"/>
                  </a:moveTo>
                  <a:lnTo>
                    <a:pt x="7477252" y="0"/>
                  </a:lnTo>
                  <a:lnTo>
                    <a:pt x="7477252" y="658622"/>
                  </a:lnTo>
                  <a:lnTo>
                    <a:pt x="0" y="6586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9371" t="-7861" r="-33696" b="-42094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5427897" y="120015"/>
            <a:ext cx="7432205" cy="1350121"/>
            <a:chOff x="0" y="0"/>
            <a:chExt cx="9909607" cy="180016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909556" cy="1800098"/>
            </a:xfrm>
            <a:custGeom>
              <a:avLst/>
              <a:gdLst/>
              <a:ahLst/>
              <a:cxnLst/>
              <a:rect l="l" t="t" r="r" b="b"/>
              <a:pathLst>
                <a:path w="9909556" h="1800098">
                  <a:moveTo>
                    <a:pt x="0" y="0"/>
                  </a:moveTo>
                  <a:lnTo>
                    <a:pt x="9909556" y="0"/>
                  </a:lnTo>
                  <a:lnTo>
                    <a:pt x="9909556" y="1800098"/>
                  </a:lnTo>
                  <a:lnTo>
                    <a:pt x="0" y="18000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307" t="-129549" r="-17152" b="-132270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573129" y="1781223"/>
            <a:ext cx="17505669" cy="32309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51510" lvl="1" indent="-325755" algn="just">
              <a:lnSpc>
                <a:spcPts val="6480"/>
              </a:lnSpc>
              <a:buFont typeface="Arial"/>
              <a:buChar char="•"/>
            </a:pPr>
            <a:r>
              <a:rPr lang="en-US" sz="36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-  </a:t>
            </a:r>
            <a:r>
              <a:rPr lang="en-US" sz="3600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013</a:t>
            </a:r>
            <a:endParaRPr lang="en-US" sz="3300" dirty="0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marL="651510" lvl="1" indent="-325755" algn="just">
              <a:lnSpc>
                <a:spcPts val="6480"/>
              </a:lnSpc>
              <a:buFont typeface="Arial"/>
              <a:buChar char="•"/>
            </a:pPr>
            <a:r>
              <a:rPr lang="en-US" sz="36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 - </a:t>
            </a:r>
            <a:r>
              <a:rPr lang="en-US" sz="3200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AI Powered Viral Content and Digital Marketing </a:t>
            </a:r>
            <a:r>
              <a:rPr lang="en-US" sz="3600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Assistan</a:t>
            </a:r>
            <a:r>
              <a:rPr lang="en-US" sz="3200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</a:t>
            </a:r>
            <a:endParaRPr lang="en-US" sz="2800" dirty="0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marL="651510" lvl="1" indent="-325755" algn="just">
              <a:lnSpc>
                <a:spcPts val="6480"/>
              </a:lnSpc>
              <a:buFont typeface="Arial"/>
              <a:buChar char="•"/>
            </a:pPr>
            <a:r>
              <a:rPr lang="en-US" sz="36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Domain – AI Domain</a:t>
            </a:r>
          </a:p>
          <a:p>
            <a:pPr marL="651510" lvl="1" indent="-325755" algn="just">
              <a:lnSpc>
                <a:spcPts val="6480"/>
              </a:lnSpc>
              <a:buFont typeface="Arial"/>
              <a:buChar char="•"/>
            </a:pPr>
            <a:r>
              <a:rPr lang="en-US" sz="36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 (Registered on portal) – Cognitive Twisters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3922893" y="9847040"/>
            <a:ext cx="4114800" cy="547688"/>
            <a:chOff x="0" y="0"/>
            <a:chExt cx="5486400" cy="7302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486400" cy="730250"/>
            </a:xfrm>
            <a:custGeom>
              <a:avLst/>
              <a:gdLst/>
              <a:ahLst/>
              <a:cxn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96391" b="-96391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0"/>
              <a:ext cx="5486400" cy="730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67676"/>
                  </a:solidFill>
                  <a:latin typeface="Aptos"/>
                  <a:ea typeface="Aptos"/>
                  <a:cs typeface="Aptos"/>
                  <a:sym typeface="Aptos"/>
                </a:rPr>
                <a:t>1</a:t>
              </a:r>
            </a:p>
          </p:txBody>
        </p:sp>
      </p:grpSp>
      <p:graphicFrame>
        <p:nvGraphicFramePr>
          <p:cNvPr id="11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4668988"/>
              </p:ext>
            </p:extLst>
          </p:nvPr>
        </p:nvGraphicFramePr>
        <p:xfrm>
          <a:off x="761999" y="5817837"/>
          <a:ext cx="16744950" cy="4033394"/>
        </p:xfrm>
        <a:graphic>
          <a:graphicData uri="http://schemas.openxmlformats.org/drawingml/2006/table">
            <a:tbl>
              <a:tblPr/>
              <a:tblGrid>
                <a:gridCol w="83573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76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5953"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Team Leader Name –  Eklavya Jha</a:t>
                      </a:r>
                      <a:endParaRPr lang="en-US" sz="1100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  <a:p>
                      <a:pPr algn="l">
                        <a:lnSpc>
                          <a:spcPts val="2879"/>
                        </a:lnSpc>
                      </a:pPr>
                      <a:r>
                        <a:rPr lang="en-US" sz="240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Branch, Stream, Year : BTech, CSE-AI,1</a:t>
                      </a:r>
                    </a:p>
                    <a:p>
                      <a:pPr algn="l">
                        <a:lnSpc>
                          <a:spcPts val="2879"/>
                        </a:lnSpc>
                      </a:pPr>
                      <a:r>
                        <a:rPr lang="en-US" sz="240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Email ID – eklavyaprivate22@gmail.com</a:t>
                      </a:r>
                    </a:p>
                    <a:p>
                      <a:pPr algn="l">
                        <a:lnSpc>
                          <a:spcPts val="2879"/>
                        </a:lnSpc>
                      </a:pPr>
                      <a:r>
                        <a:rPr lang="en-US" sz="240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Contact Number – 7778039191</a:t>
                      </a:r>
                    </a:p>
                    <a:p>
                      <a:pPr algn="l">
                        <a:lnSpc>
                          <a:spcPts val="2879"/>
                        </a:lnSpc>
                      </a:pPr>
                      <a:r>
                        <a:rPr lang="en-US" sz="240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College/University Name – GIT, GU.</a:t>
                      </a:r>
                    </a:p>
                  </a:txBody>
                  <a:tcPr marT="91440" marB="9144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Team Member 1 Name –  Mohit Chauhan</a:t>
                      </a:r>
                      <a:endParaRPr lang="en-US" sz="1100" dirty="0">
                        <a:solidFill>
                          <a:schemeClr val="bg2">
                            <a:lumMod val="90000"/>
                          </a:schemeClr>
                        </a:solidFill>
                      </a:endParaRPr>
                    </a:p>
                    <a:p>
                      <a:pPr algn="l">
                        <a:lnSpc>
                          <a:spcPts val="2879"/>
                        </a:lnSpc>
                      </a:pPr>
                      <a:r>
                        <a:rPr lang="en-US" sz="240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Branch, Stream, Year: BE, AI/ML,1</a:t>
                      </a:r>
                    </a:p>
                    <a:p>
                      <a:pPr algn="l">
                        <a:lnSpc>
                          <a:spcPts val="2879"/>
                        </a:lnSpc>
                      </a:pPr>
                      <a:r>
                        <a:rPr lang="en-US" sz="240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Email ID – mohit717.py@gmail.com</a:t>
                      </a:r>
                    </a:p>
                    <a:p>
                      <a:pPr algn="l">
                        <a:lnSpc>
                          <a:spcPts val="2879"/>
                        </a:lnSpc>
                      </a:pPr>
                      <a:r>
                        <a:rPr lang="en-US" sz="240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Contact Number – 6354523335</a:t>
                      </a:r>
                    </a:p>
                    <a:p>
                      <a:pPr algn="l">
                        <a:lnSpc>
                          <a:spcPts val="2879"/>
                        </a:lnSpc>
                      </a:pPr>
                      <a:r>
                        <a:rPr lang="en-US" sz="240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College/University Name – New LJ, Ahmedabad</a:t>
                      </a:r>
                    </a:p>
                  </a:txBody>
                  <a:tcPr marT="91440" marB="9144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5597"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Team Member 2 Name – Krishna Thaker</a:t>
                      </a:r>
                      <a:endParaRPr lang="en-US" sz="1100" dirty="0">
                        <a:solidFill>
                          <a:schemeClr val="bg2">
                            <a:lumMod val="90000"/>
                          </a:schemeClr>
                        </a:solidFill>
                      </a:endParaRPr>
                    </a:p>
                    <a:p>
                      <a:pPr algn="l">
                        <a:lnSpc>
                          <a:spcPts val="2879"/>
                        </a:lnSpc>
                      </a:pPr>
                      <a:r>
                        <a:rPr lang="en-US" sz="240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Branch, Stream, Year : BE, ECE, 2</a:t>
                      </a:r>
                    </a:p>
                    <a:p>
                      <a:pPr algn="l">
                        <a:lnSpc>
                          <a:spcPts val="2879"/>
                        </a:lnSpc>
                      </a:pPr>
                      <a:r>
                        <a:rPr lang="en-US" sz="240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Email ID – krishnathaker2004@gmail.com</a:t>
                      </a:r>
                    </a:p>
                    <a:p>
                      <a:pPr algn="l">
                        <a:lnSpc>
                          <a:spcPts val="2879"/>
                        </a:lnSpc>
                      </a:pPr>
                      <a:r>
                        <a:rPr lang="en-US" sz="240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Contact Number – 9099902657</a:t>
                      </a:r>
                    </a:p>
                    <a:p>
                      <a:pPr algn="l">
                        <a:lnSpc>
                          <a:spcPts val="2879"/>
                        </a:lnSpc>
                      </a:pPr>
                      <a:r>
                        <a:rPr lang="en-US" sz="240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College/University Name – GEC, Gandhinagar</a:t>
                      </a:r>
                    </a:p>
                  </a:txBody>
                  <a:tcPr marT="91440" marB="9144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Team Member 3 Name – Dipak Raval</a:t>
                      </a:r>
                      <a:endParaRPr lang="en-US" sz="1100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  <a:p>
                      <a:pPr algn="l">
                        <a:lnSpc>
                          <a:spcPts val="2879"/>
                        </a:lnSpc>
                      </a:pPr>
                      <a:r>
                        <a:rPr lang="en-US" sz="240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Branch, Stream, Year : BE, ECE, 4</a:t>
                      </a:r>
                    </a:p>
                    <a:p>
                      <a:pPr algn="l">
                        <a:lnSpc>
                          <a:spcPts val="2879"/>
                        </a:lnSpc>
                      </a:pPr>
                      <a:r>
                        <a:rPr lang="en-US" sz="240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Email ID –  </a:t>
                      </a:r>
                      <a:r>
                        <a:rPr lang="en-IN" sz="2400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rdvraval19@gmail.com</a:t>
                      </a:r>
                      <a:endParaRPr lang="en-US" sz="2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Aptos"/>
                        <a:ea typeface="Aptos"/>
                        <a:cs typeface="Aptos"/>
                        <a:sym typeface="Aptos"/>
                      </a:endParaRPr>
                    </a:p>
                    <a:p>
                      <a:pPr algn="l">
                        <a:lnSpc>
                          <a:spcPts val="2879"/>
                        </a:lnSpc>
                      </a:pPr>
                      <a:r>
                        <a:rPr lang="en-US" sz="240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Contact Number –  6353389110</a:t>
                      </a:r>
                    </a:p>
                    <a:p>
                      <a:pPr algn="l">
                        <a:lnSpc>
                          <a:spcPts val="2879"/>
                        </a:lnSpc>
                      </a:pPr>
                      <a:r>
                        <a:rPr lang="en-US" sz="240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College/University Name – GEC, Gandhinagar</a:t>
                      </a:r>
                    </a:p>
                  </a:txBody>
                  <a:tcPr marT="91440" marB="9144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" name="TextBox 15"/>
          <p:cNvSpPr txBox="1"/>
          <p:nvPr/>
        </p:nvSpPr>
        <p:spPr>
          <a:xfrm>
            <a:off x="2407920" y="9970770"/>
            <a:ext cx="13533120" cy="20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4"/>
              </a:lnSpc>
            </a:pPr>
            <a:r>
              <a:rPr lang="en-US" sz="1800" b="1" u="sng">
                <a:solidFill>
                  <a:srgbClr val="808080"/>
                </a:solidFill>
                <a:latin typeface="Aptos Bold"/>
                <a:ea typeface="Aptos Bold"/>
                <a:cs typeface="Aptos Bold"/>
                <a:sym typeface="Aptos Bold"/>
                <a:hlinkClick r:id="rId6" tooltip="https://craftathon.gu-tech.org/"/>
              </a:rPr>
              <a:t>craftathon.gu-tech.org </a:t>
            </a:r>
            <a:r>
              <a:rPr lang="en-US" sz="1800" b="1">
                <a:solidFill>
                  <a:srgbClr val="808080"/>
                </a:solidFill>
                <a:latin typeface="Aptos Bold"/>
                <a:ea typeface="Aptos Bold"/>
                <a:cs typeface="Aptos Bold"/>
                <a:sym typeface="Aptos Bold"/>
              </a:rPr>
              <a:t> |  </a:t>
            </a:r>
            <a:r>
              <a:rPr lang="en-US" sz="1800" b="1" u="sng">
                <a:solidFill>
                  <a:srgbClr val="808080"/>
                </a:solidFill>
                <a:latin typeface="Aptos Bold"/>
                <a:ea typeface="Aptos Bold"/>
                <a:cs typeface="Aptos Bold"/>
                <a:sym typeface="Aptos Bold"/>
                <a:hlinkClick r:id="rId7" tooltip="mailto:hackathon.info@gandhinagaruni.ac.in"/>
              </a:rPr>
              <a:t>hackathon.info@gandhinagaruni.ac.in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2C16259-0E8A-2B86-209C-1264128C0345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85000"/>
          </a:blip>
          <a:stretch>
            <a:fillRect/>
          </a:stretch>
        </p:blipFill>
        <p:spPr>
          <a:xfrm>
            <a:off x="209202" y="91747"/>
            <a:ext cx="1981200" cy="187751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1999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5313304" y="84973"/>
            <a:ext cx="2806865" cy="509892"/>
            <a:chOff x="0" y="0"/>
            <a:chExt cx="3742487" cy="67985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42436" cy="679831"/>
            </a:xfrm>
            <a:custGeom>
              <a:avLst/>
              <a:gdLst/>
              <a:ahLst/>
              <a:cxnLst/>
              <a:rect l="l" t="t" r="r" b="b"/>
              <a:pathLst>
                <a:path w="3742436" h="679831">
                  <a:moveTo>
                    <a:pt x="0" y="0"/>
                  </a:moveTo>
                  <a:lnTo>
                    <a:pt x="3742436" y="0"/>
                  </a:lnTo>
                  <a:lnTo>
                    <a:pt x="3742436" y="679831"/>
                  </a:lnTo>
                  <a:lnTo>
                    <a:pt x="0" y="6798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307" t="-129549" r="-17153" b="-132269"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7614921" y="1683106"/>
            <a:ext cx="10147067" cy="53376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88"/>
              </a:lnSpc>
            </a:pPr>
            <a:endParaRPr lang="en-US" sz="3600" b="1" dirty="0">
              <a:solidFill>
                <a:srgbClr val="000000"/>
              </a:solidFill>
              <a:latin typeface="Aptos Bold"/>
              <a:ea typeface="Aptos Bold"/>
              <a:cs typeface="Aptos Bold"/>
              <a:sym typeface="Aptos Bold"/>
            </a:endParaRPr>
          </a:p>
          <a:p>
            <a:pPr marL="488632" lvl="1" indent="-244316" algn="l">
              <a:lnSpc>
                <a:spcPts val="2916"/>
              </a:lnSpc>
              <a:buFont typeface="Arial"/>
              <a:buChar char="•"/>
            </a:pPr>
            <a:r>
              <a:rPr lang="en-US" sz="2700" b="1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Real-world context: </a:t>
            </a:r>
            <a:r>
              <a:rPr lang="en-US" sz="27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The media platforms who faces the issues or seeking for the </a:t>
            </a:r>
            <a:r>
              <a:rPr lang="en-US" sz="2700" dirty="0">
                <a:solidFill>
                  <a:schemeClr val="accent5">
                    <a:lumMod val="75000"/>
                  </a:schemeClr>
                </a:solidFill>
                <a:latin typeface="Aptos"/>
                <a:ea typeface="Aptos"/>
                <a:cs typeface="Aptos"/>
                <a:sym typeface="Aptos"/>
              </a:rPr>
              <a:t>Audience engaging content</a:t>
            </a:r>
            <a:r>
              <a:rPr lang="en-US" sz="27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in this trendy world.</a:t>
            </a:r>
            <a:br>
              <a:rPr lang="en-IN" sz="27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</a:br>
            <a:endParaRPr lang="en-US" sz="2700" dirty="0">
              <a:solidFill>
                <a:srgbClr val="000000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88632" lvl="1" indent="-244316" algn="l">
              <a:lnSpc>
                <a:spcPts val="2916"/>
              </a:lnSpc>
              <a:buFont typeface="Arial"/>
              <a:buChar char="•"/>
            </a:pPr>
            <a:r>
              <a:rPr lang="en-US" sz="2700" b="1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Current limitations or pain points: </a:t>
            </a:r>
            <a:r>
              <a:rPr lang="en-US" sz="27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In today’s fast-paced digital landscape, creators and businesses struggle to create viral content due to </a:t>
            </a:r>
            <a:r>
              <a:rPr lang="en-US" sz="2700" dirty="0">
                <a:solidFill>
                  <a:schemeClr val="accent5">
                    <a:lumMod val="75000"/>
                  </a:schemeClr>
                </a:solidFill>
                <a:latin typeface="Aptos"/>
                <a:ea typeface="Aptos"/>
                <a:cs typeface="Aptos"/>
                <a:sym typeface="Aptos"/>
              </a:rPr>
              <a:t>rapidly changing algorithms and limited real-time trend insights.</a:t>
            </a:r>
          </a:p>
          <a:p>
            <a:pPr marL="244316" lvl="1" algn="l">
              <a:lnSpc>
                <a:spcPts val="2916"/>
              </a:lnSpc>
            </a:pPr>
            <a:endParaRPr lang="en-US" sz="2700" dirty="0">
              <a:solidFill>
                <a:srgbClr val="000000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88632" lvl="1" indent="-244316" algn="l">
              <a:lnSpc>
                <a:spcPts val="2916"/>
              </a:lnSpc>
              <a:buFont typeface="Arial"/>
              <a:buChar char="•"/>
            </a:pPr>
            <a:r>
              <a:rPr lang="en-US" sz="2700" b="1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Any supporting data or statistics: </a:t>
            </a:r>
            <a:r>
              <a:rPr lang="en-US" sz="27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100s of video and millions of post are uploaded every min: on media which make </a:t>
            </a:r>
            <a:r>
              <a:rPr lang="en-US" sz="2700" dirty="0">
                <a:solidFill>
                  <a:schemeClr val="accent5">
                    <a:lumMod val="75000"/>
                  </a:schemeClr>
                </a:solidFill>
                <a:latin typeface="Aptos"/>
                <a:ea typeface="Aptos"/>
                <a:cs typeface="Aptos"/>
                <a:sym typeface="Aptos"/>
              </a:rPr>
              <a:t>10x time more difficult</a:t>
            </a:r>
            <a:r>
              <a:rPr lang="en-US" sz="27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to fetch the </a:t>
            </a:r>
            <a:r>
              <a:rPr lang="en-US" sz="2700" dirty="0">
                <a:solidFill>
                  <a:schemeClr val="accent5">
                    <a:lumMod val="75000"/>
                  </a:schemeClr>
                </a:solidFill>
                <a:latin typeface="Aptos"/>
                <a:ea typeface="Aptos"/>
                <a:cs typeface="Aptos"/>
                <a:sym typeface="Aptos"/>
              </a:rPr>
              <a:t>viral or high performing content to stand out.</a:t>
            </a:r>
            <a:br>
              <a:rPr lang="en-US" sz="2700" b="1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</a:br>
            <a:endParaRPr lang="en-US" sz="2700" b="1" dirty="0">
              <a:solidFill>
                <a:srgbClr val="000000"/>
              </a:solidFill>
              <a:latin typeface="Aptos"/>
              <a:ea typeface="Aptos"/>
              <a:cs typeface="Aptos"/>
              <a:sym typeface="Apto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4870990" y="124377"/>
            <a:ext cx="8546020" cy="970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 b="1" dirty="0">
                <a:solidFill>
                  <a:srgbClr val="00336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Problem Statement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3922893" y="9847040"/>
            <a:ext cx="4114800" cy="547688"/>
            <a:chOff x="0" y="0"/>
            <a:chExt cx="5486400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486400" cy="730250"/>
            </a:xfrm>
            <a:custGeom>
              <a:avLst/>
              <a:gdLst/>
              <a:ahLst/>
              <a:cxn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96391" b="-96391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0"/>
              <a:ext cx="5486400" cy="730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67676"/>
                  </a:solidFill>
                  <a:latin typeface="Aptos"/>
                  <a:ea typeface="Aptos"/>
                  <a:cs typeface="Aptos"/>
                  <a:sym typeface="Aptos"/>
                </a:rPr>
                <a:t>2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2407920" y="9970770"/>
            <a:ext cx="13533120" cy="20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4"/>
              </a:lnSpc>
            </a:pPr>
            <a:r>
              <a:rPr lang="en-US" sz="1800" b="1" u="sng">
                <a:solidFill>
                  <a:srgbClr val="808080"/>
                </a:solidFill>
                <a:latin typeface="Aptos Bold"/>
                <a:ea typeface="Aptos Bold"/>
                <a:cs typeface="Aptos Bold"/>
                <a:sym typeface="Aptos Bold"/>
                <a:hlinkClick r:id="rId5" tooltip="https://craftathon.gu-tech.org/"/>
              </a:rPr>
              <a:t>craftathon.gu-tech.org </a:t>
            </a:r>
            <a:r>
              <a:rPr lang="en-US" sz="1800" b="1">
                <a:solidFill>
                  <a:srgbClr val="808080"/>
                </a:solidFill>
                <a:latin typeface="Aptos Bold"/>
                <a:ea typeface="Aptos Bold"/>
                <a:cs typeface="Aptos Bold"/>
                <a:sym typeface="Aptos Bold"/>
              </a:rPr>
              <a:t> |  </a:t>
            </a:r>
            <a:r>
              <a:rPr lang="en-US" sz="1800" b="1" u="sng">
                <a:solidFill>
                  <a:srgbClr val="808080"/>
                </a:solidFill>
                <a:latin typeface="Aptos Bold"/>
                <a:ea typeface="Aptos Bold"/>
                <a:cs typeface="Aptos Bold"/>
                <a:sym typeface="Aptos Bold"/>
                <a:hlinkClick r:id="rId6" tooltip="mailto:hackathon.info@gandhinagaruni.ac.in"/>
              </a:rPr>
              <a:t>hackathon.info@gandhinagaruni.ac.in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213A960-0C21-99CF-A5D5-01167E40EF83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85000"/>
          </a:blip>
          <a:stretch>
            <a:fillRect/>
          </a:stretch>
        </p:blipFill>
        <p:spPr>
          <a:xfrm>
            <a:off x="209202" y="91747"/>
            <a:ext cx="1981200" cy="1877515"/>
          </a:xfrm>
          <a:prstGeom prst="rect">
            <a:avLst/>
          </a:prstGeom>
        </p:spPr>
      </p:pic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8C0DC558-5EF5-B8A6-DA19-7564A9E54E7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52695545"/>
              </p:ext>
            </p:extLst>
          </p:nvPr>
        </p:nvGraphicFramePr>
        <p:xfrm>
          <a:off x="1139532" y="1000137"/>
          <a:ext cx="6328068" cy="4724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2597C54-5E77-49CA-7C1D-DE5CF19BDA56}"/>
              </a:ext>
            </a:extLst>
          </p:cNvPr>
          <p:cNvSpPr/>
          <p:nvPr/>
        </p:nvSpPr>
        <p:spPr>
          <a:xfrm>
            <a:off x="1023201" y="5761422"/>
            <a:ext cx="2418276" cy="99776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/>
              <a:t>Struggle to Create Viral Content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16983C1-F9B9-ADAC-597A-97F4F52436C0}"/>
              </a:ext>
            </a:extLst>
          </p:cNvPr>
          <p:cNvSpPr/>
          <p:nvPr/>
        </p:nvSpPr>
        <p:spPr>
          <a:xfrm>
            <a:off x="1040408" y="7822281"/>
            <a:ext cx="2948383" cy="108539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Changing Algorithms + No Trend Insights</a:t>
            </a:r>
            <a:endParaRPr lang="en-IN" sz="2000" dirty="0"/>
          </a:p>
        </p:txBody>
      </p: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FA4410EE-6839-CA11-2AEB-CE3B30A3DCEA}"/>
              </a:ext>
            </a:extLst>
          </p:cNvPr>
          <p:cNvCxnSpPr>
            <a:cxnSpLocks/>
            <a:stCxn id="17" idx="1"/>
            <a:endCxn id="18" idx="1"/>
          </p:cNvCxnSpPr>
          <p:nvPr/>
        </p:nvCxnSpPr>
        <p:spPr>
          <a:xfrm rot="10800000" flipH="1" flipV="1">
            <a:off x="1023200" y="6260303"/>
            <a:ext cx="17207" cy="2104674"/>
          </a:xfrm>
          <a:prstGeom prst="bentConnector3">
            <a:avLst>
              <a:gd name="adj1" fmla="val -1328529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ABF24DC-5AD1-CFC1-D4F9-DC515990263C}"/>
              </a:ext>
            </a:extLst>
          </p:cNvPr>
          <p:cNvCxnSpPr>
            <a:cxnSpLocks/>
          </p:cNvCxnSpPr>
          <p:nvPr/>
        </p:nvCxnSpPr>
        <p:spPr>
          <a:xfrm flipH="1">
            <a:off x="2851369" y="5058689"/>
            <a:ext cx="590108" cy="66613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Flowchart: Document 30">
            <a:extLst>
              <a:ext uri="{FF2B5EF4-FFF2-40B4-BE49-F238E27FC236}">
                <a16:creationId xmlns:a16="http://schemas.microsoft.com/office/drawing/2014/main" id="{A69633C7-65ED-C583-4592-580E6B0E4858}"/>
              </a:ext>
            </a:extLst>
          </p:cNvPr>
          <p:cNvSpPr/>
          <p:nvPr/>
        </p:nvSpPr>
        <p:spPr>
          <a:xfrm>
            <a:off x="4650614" y="5765954"/>
            <a:ext cx="2418275" cy="1780166"/>
          </a:xfrm>
          <a:prstGeom prst="flowChart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Low Reach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Low Engagement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Hard to Stand Out</a:t>
            </a:r>
            <a:endParaRPr lang="en-IN" sz="2000" dirty="0"/>
          </a:p>
        </p:txBody>
      </p: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1E6FF67A-DDA6-3471-32B6-4E331ACF5A9E}"/>
              </a:ext>
            </a:extLst>
          </p:cNvPr>
          <p:cNvCxnSpPr>
            <a:cxnSpLocks/>
            <a:stCxn id="18" idx="3"/>
            <a:endCxn id="31" idx="1"/>
          </p:cNvCxnSpPr>
          <p:nvPr/>
        </p:nvCxnSpPr>
        <p:spPr>
          <a:xfrm flipV="1">
            <a:off x="3988791" y="6656037"/>
            <a:ext cx="661823" cy="1708940"/>
          </a:xfrm>
          <a:prstGeom prst="bent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FA92A8C0-EAD7-C278-C341-B813DCB098B0}"/>
              </a:ext>
            </a:extLst>
          </p:cNvPr>
          <p:cNvSpPr/>
          <p:nvPr/>
        </p:nvSpPr>
        <p:spPr>
          <a:xfrm>
            <a:off x="5228408" y="7823682"/>
            <a:ext cx="12533580" cy="146318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Aptos"/>
                <a:ea typeface="Aptos"/>
                <a:cs typeface="Aptos"/>
                <a:sym typeface="Aptos"/>
              </a:rPr>
              <a:t>Exact one-line problem definition: </a:t>
            </a:r>
            <a:r>
              <a:rPr lang="en-US" sz="2800" dirty="0">
                <a:solidFill>
                  <a:schemeClr val="tx1"/>
                </a:solidFill>
              </a:rPr>
              <a:t>Build an AI-powered system that analyzes real-time trends and engagement data to predict, optimize, and generate high-performing digital content across platforms.</a:t>
            </a:r>
            <a:endParaRPr lang="en-US" sz="2800" b="1" dirty="0">
              <a:solidFill>
                <a:schemeClr val="tx1"/>
              </a:solidFill>
              <a:latin typeface="Aptos"/>
              <a:ea typeface="Aptos"/>
              <a:cs typeface="Aptos"/>
              <a:sym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30861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1999"/>
            </a:stretch>
          </a:blipFill>
        </p:spPr>
        <p:txBody>
          <a:bodyPr/>
          <a:lstStyle/>
          <a:p>
            <a:endParaRPr lang="en-IN" dirty="0"/>
          </a:p>
        </p:txBody>
      </p:sp>
      <p:grpSp>
        <p:nvGrpSpPr>
          <p:cNvPr id="3" name="Group 3"/>
          <p:cNvGrpSpPr/>
          <p:nvPr/>
        </p:nvGrpSpPr>
        <p:grpSpPr>
          <a:xfrm>
            <a:off x="15313304" y="84973"/>
            <a:ext cx="2806827" cy="509873"/>
            <a:chOff x="0" y="0"/>
            <a:chExt cx="3742437" cy="67983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42437" cy="679831"/>
            </a:xfrm>
            <a:custGeom>
              <a:avLst/>
              <a:gdLst/>
              <a:ahLst/>
              <a:cxnLst/>
              <a:rect l="l" t="t" r="r" b="b"/>
              <a:pathLst>
                <a:path w="3742436" h="679831">
                  <a:moveTo>
                    <a:pt x="0" y="0"/>
                  </a:moveTo>
                  <a:lnTo>
                    <a:pt x="3742436" y="0"/>
                  </a:lnTo>
                  <a:lnTo>
                    <a:pt x="3742436" y="679831"/>
                  </a:lnTo>
                  <a:lnTo>
                    <a:pt x="0" y="6798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307" t="-129549" r="-17153" b="-132269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922893" y="9847040"/>
            <a:ext cx="4114800" cy="547688"/>
            <a:chOff x="0" y="0"/>
            <a:chExt cx="5486400" cy="7302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486400" cy="730250"/>
            </a:xfrm>
            <a:custGeom>
              <a:avLst/>
              <a:gdLst/>
              <a:ahLst/>
              <a:cxn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96391" b="-96391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5486400" cy="730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67676"/>
                  </a:solidFill>
                  <a:latin typeface="Aptos"/>
                  <a:ea typeface="Aptos"/>
                  <a:cs typeface="Aptos"/>
                  <a:sym typeface="Aptos"/>
                </a:rPr>
                <a:t>3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5179695" y="127473"/>
            <a:ext cx="7928610" cy="970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 b="1">
                <a:solidFill>
                  <a:srgbClr val="00336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Proposed Solution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28600" y="8051923"/>
            <a:ext cx="12531438" cy="114143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t">
            <a:spAutoFit/>
          </a:bodyPr>
          <a:lstStyle/>
          <a:p>
            <a:pPr marL="244316" lvl="1" algn="l">
              <a:lnSpc>
                <a:spcPts val="2916"/>
              </a:lnSpc>
            </a:pPr>
            <a:r>
              <a:rPr lang="en-US" sz="2700" b="1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Why is this solution better than current methods: </a:t>
            </a:r>
            <a:r>
              <a:rPr lang="en-US" sz="27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This solution offers </a:t>
            </a:r>
            <a:r>
              <a:rPr lang="en-US" sz="2700" dirty="0">
                <a:solidFill>
                  <a:schemeClr val="accent5">
                    <a:lumMod val="75000"/>
                  </a:schemeClr>
                </a:solidFill>
                <a:latin typeface="Aptos"/>
                <a:ea typeface="Aptos"/>
                <a:cs typeface="Aptos"/>
                <a:sym typeface="Aptos"/>
              </a:rPr>
              <a:t>real-time trend insights and AI predictions</a:t>
            </a:r>
            <a:r>
              <a:rPr lang="en-US" sz="27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, helping users create optimized content before publishing, rather than relying on post-mortem analytics.</a:t>
            </a:r>
            <a:endParaRPr lang="en-US" sz="2700" b="1" dirty="0">
              <a:solidFill>
                <a:srgbClr val="000000"/>
              </a:solidFill>
              <a:latin typeface="Aptos"/>
              <a:ea typeface="Aptos"/>
              <a:cs typeface="Aptos"/>
              <a:sym typeface="Aptos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2407920" y="9970770"/>
            <a:ext cx="13533120" cy="20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4"/>
              </a:lnSpc>
            </a:pPr>
            <a:r>
              <a:rPr lang="en-US" sz="1800" b="1" u="sng">
                <a:solidFill>
                  <a:srgbClr val="808080"/>
                </a:solidFill>
                <a:latin typeface="Aptos Bold"/>
                <a:ea typeface="Aptos Bold"/>
                <a:cs typeface="Aptos Bold"/>
                <a:sym typeface="Aptos Bold"/>
                <a:hlinkClick r:id="rId5" tooltip="https://craftathon.gu-tech.org/"/>
              </a:rPr>
              <a:t>craftathon.gu-tech.org </a:t>
            </a:r>
            <a:r>
              <a:rPr lang="en-US" sz="1800" b="1">
                <a:solidFill>
                  <a:srgbClr val="808080"/>
                </a:solidFill>
                <a:latin typeface="Aptos Bold"/>
                <a:ea typeface="Aptos Bold"/>
                <a:cs typeface="Aptos Bold"/>
                <a:sym typeface="Aptos Bold"/>
              </a:rPr>
              <a:t> |  </a:t>
            </a:r>
            <a:r>
              <a:rPr lang="en-US" sz="1800" b="1" u="sng">
                <a:solidFill>
                  <a:srgbClr val="808080"/>
                </a:solidFill>
                <a:latin typeface="Aptos Bold"/>
                <a:ea typeface="Aptos Bold"/>
                <a:cs typeface="Aptos Bold"/>
                <a:sym typeface="Aptos Bold"/>
                <a:hlinkClick r:id="rId6" tooltip="mailto:hackathon.info@gandhinagaruni.ac.in"/>
              </a:rPr>
              <a:t>hackathon.info@gandhinagaruni.ac.in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CDB7FDB-B2DB-DFAD-EEA7-3BBB0E634A5B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85000"/>
          </a:blip>
          <a:stretch>
            <a:fillRect/>
          </a:stretch>
        </p:blipFill>
        <p:spPr>
          <a:xfrm>
            <a:off x="209202" y="91747"/>
            <a:ext cx="1981200" cy="187751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0B01E6A-DEFF-E1CB-6732-EB920BDD6EFD}"/>
              </a:ext>
            </a:extLst>
          </p:cNvPr>
          <p:cNvSpPr txBox="1"/>
          <p:nvPr/>
        </p:nvSpPr>
        <p:spPr>
          <a:xfrm>
            <a:off x="5000626" y="3247087"/>
            <a:ext cx="49704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flowchart/block diagram: 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52861EF-F3F5-865C-3573-678C7FCF3EA1}"/>
              </a:ext>
            </a:extLst>
          </p:cNvPr>
          <p:cNvSpPr/>
          <p:nvPr/>
        </p:nvSpPr>
        <p:spPr>
          <a:xfrm>
            <a:off x="4926678" y="1714500"/>
            <a:ext cx="12884267" cy="1210427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An AI-powered platform that helps creators discover trends, predict virality, and generate high-performing content.</a:t>
            </a:r>
            <a:endParaRPr lang="en-IN" sz="2800" dirty="0"/>
          </a:p>
        </p:txBody>
      </p:sp>
      <p:sp>
        <p:nvSpPr>
          <p:cNvPr id="9" name="Flowchart: Document 8">
            <a:extLst>
              <a:ext uri="{FF2B5EF4-FFF2-40B4-BE49-F238E27FC236}">
                <a16:creationId xmlns:a16="http://schemas.microsoft.com/office/drawing/2014/main" id="{31939021-F0F7-588B-FFC6-CC28F4E2C757}"/>
              </a:ext>
            </a:extLst>
          </p:cNvPr>
          <p:cNvSpPr/>
          <p:nvPr/>
        </p:nvSpPr>
        <p:spPr>
          <a:xfrm>
            <a:off x="228600" y="1689844"/>
            <a:ext cx="4438998" cy="3352800"/>
          </a:xfrm>
          <a:prstGeom prst="flowChartDocumen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  <a:p>
            <a:pPr algn="ctr"/>
            <a:r>
              <a:rPr lang="en-US" sz="2400" b="1" dirty="0"/>
              <a:t> Core Value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Discover trending content instantly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Generate thumbnails &amp; captions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Predict virality before posting </a:t>
            </a:r>
          </a:p>
          <a:p>
            <a:pPr algn="ctr"/>
            <a:endParaRPr lang="en-IN" sz="2400" dirty="0"/>
          </a:p>
        </p:txBody>
      </p:sp>
      <p:sp>
        <p:nvSpPr>
          <p:cNvPr id="10" name="Flowchart: Document 9">
            <a:extLst>
              <a:ext uri="{FF2B5EF4-FFF2-40B4-BE49-F238E27FC236}">
                <a16:creationId xmlns:a16="http://schemas.microsoft.com/office/drawing/2014/main" id="{8AE420F5-32D1-6198-2996-60CF591FBD4F}"/>
              </a:ext>
            </a:extLst>
          </p:cNvPr>
          <p:cNvSpPr/>
          <p:nvPr/>
        </p:nvSpPr>
        <p:spPr>
          <a:xfrm rot="10800000">
            <a:off x="13371947" y="5840558"/>
            <a:ext cx="4438998" cy="3352801"/>
          </a:xfrm>
          <a:prstGeom prst="flowChartDocumen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3F9DFB2-4485-9922-1495-F2FB147E42B8}"/>
              </a:ext>
            </a:extLst>
          </p:cNvPr>
          <p:cNvSpPr txBox="1"/>
          <p:nvPr/>
        </p:nvSpPr>
        <p:spPr>
          <a:xfrm>
            <a:off x="13391086" y="6526359"/>
            <a:ext cx="441985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Key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Cross-platform trend engine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AI virality prediction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Content &amp; thumbnail generator</a:t>
            </a:r>
            <a:endParaRPr lang="en-I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Viral hashtag suggestion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User-Friendly</a:t>
            </a:r>
            <a:endParaRPr lang="en-US" sz="2400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CFED2D7-09B5-0E66-E681-24EBA67EA494}"/>
              </a:ext>
            </a:extLst>
          </p:cNvPr>
          <p:cNvSpPr/>
          <p:nvPr/>
        </p:nvSpPr>
        <p:spPr>
          <a:xfrm>
            <a:off x="363929" y="6106508"/>
            <a:ext cx="3427095" cy="12557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Social Media APIs</a:t>
            </a:r>
            <a:r>
              <a:rPr lang="en-IN" dirty="0"/>
              <a:t> </a:t>
            </a:r>
          </a:p>
          <a:p>
            <a:pPr algn="ctr"/>
            <a:r>
              <a:rPr lang="en-IN" dirty="0"/>
              <a:t>(IG, YT, X, TikTok)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98E7040-F903-CBA0-ED99-71CBE5C206E0}"/>
              </a:ext>
            </a:extLst>
          </p:cNvPr>
          <p:cNvSpPr/>
          <p:nvPr/>
        </p:nvSpPr>
        <p:spPr>
          <a:xfrm>
            <a:off x="5287201" y="6227276"/>
            <a:ext cx="2664943" cy="12557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Feature Extraction</a:t>
            </a:r>
            <a:r>
              <a:rPr lang="en-IN" dirty="0"/>
              <a:t> (Engagement Data)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ECC2C879-A754-2B5C-9BE5-977E2DCFAA36}"/>
              </a:ext>
            </a:extLst>
          </p:cNvPr>
          <p:cNvSpPr/>
          <p:nvPr/>
        </p:nvSpPr>
        <p:spPr>
          <a:xfrm>
            <a:off x="8103259" y="3920321"/>
            <a:ext cx="4970493" cy="12557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Prediction Model</a:t>
            </a:r>
            <a:r>
              <a:rPr lang="en-IN" dirty="0"/>
              <a:t> (Virality Score)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68D6B756-2C55-0765-5D65-547E507ADCAA}"/>
              </a:ext>
            </a:extLst>
          </p:cNvPr>
          <p:cNvSpPr/>
          <p:nvPr/>
        </p:nvSpPr>
        <p:spPr>
          <a:xfrm>
            <a:off x="2954050" y="4693627"/>
            <a:ext cx="3427095" cy="12557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Trend Detection Engine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63B242FC-5613-0139-6B1D-DB03F44C2DBE}"/>
              </a:ext>
            </a:extLst>
          </p:cNvPr>
          <p:cNvSpPr/>
          <p:nvPr/>
        </p:nvSpPr>
        <p:spPr>
          <a:xfrm>
            <a:off x="13620402" y="4491670"/>
            <a:ext cx="3427095" cy="12557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User Dashboard</a:t>
            </a:r>
          </a:p>
          <a:p>
            <a:pPr algn="ctr"/>
            <a:r>
              <a:rPr lang="en-IN" dirty="0"/>
              <a:t>(Insights + Actions)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A26C511E-62B5-5ABE-D1B4-0C20CC6A9403}"/>
              </a:ext>
            </a:extLst>
          </p:cNvPr>
          <p:cNvSpPr/>
          <p:nvPr/>
        </p:nvSpPr>
        <p:spPr>
          <a:xfrm>
            <a:off x="13620404" y="3086409"/>
            <a:ext cx="3427095" cy="12557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Strategy Generator</a:t>
            </a:r>
            <a:r>
              <a:rPr lang="en-IN" dirty="0"/>
              <a:t> </a:t>
            </a:r>
          </a:p>
          <a:p>
            <a:pPr algn="ctr"/>
            <a:r>
              <a:rPr lang="en-IN" dirty="0"/>
              <a:t>(Posting Plan)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234527CD-6BF5-0961-CC69-F1BCAB78F451}"/>
              </a:ext>
            </a:extLst>
          </p:cNvPr>
          <p:cNvSpPr/>
          <p:nvPr/>
        </p:nvSpPr>
        <p:spPr>
          <a:xfrm>
            <a:off x="10604206" y="5529112"/>
            <a:ext cx="2469546" cy="117847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Content Generator</a:t>
            </a:r>
            <a:r>
              <a:rPr lang="en-IN" dirty="0"/>
              <a:t> (Captions, Hooks)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11B0D19F-49A7-D054-BA8D-B0F23BBDA208}"/>
              </a:ext>
            </a:extLst>
          </p:cNvPr>
          <p:cNvSpPr/>
          <p:nvPr/>
        </p:nvSpPr>
        <p:spPr>
          <a:xfrm>
            <a:off x="8069313" y="5552331"/>
            <a:ext cx="2430605" cy="114143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Optimization</a:t>
            </a:r>
            <a:r>
              <a:rPr lang="en-IN" dirty="0"/>
              <a:t> </a:t>
            </a:r>
          </a:p>
          <a:p>
            <a:pPr algn="ctr"/>
            <a:r>
              <a:rPr lang="en-IN" dirty="0"/>
              <a:t>(Timing, Tags)</a:t>
            </a:r>
          </a:p>
        </p:txBody>
      </p: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660198C2-9A85-FF8F-3F37-6878472229C9}"/>
              </a:ext>
            </a:extLst>
          </p:cNvPr>
          <p:cNvCxnSpPr>
            <a:stCxn id="20" idx="0"/>
            <a:endCxn id="24" idx="1"/>
          </p:cNvCxnSpPr>
          <p:nvPr/>
        </p:nvCxnSpPr>
        <p:spPr>
          <a:xfrm rot="5400000" flipH="1" flipV="1">
            <a:off x="2123248" y="5275707"/>
            <a:ext cx="785031" cy="876573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A5333824-561C-9168-D3AB-12F49540071F}"/>
              </a:ext>
            </a:extLst>
          </p:cNvPr>
          <p:cNvCxnSpPr>
            <a:stCxn id="24" idx="2"/>
            <a:endCxn id="21" idx="1"/>
          </p:cNvCxnSpPr>
          <p:nvPr/>
        </p:nvCxnSpPr>
        <p:spPr>
          <a:xfrm rot="16200000" flipH="1">
            <a:off x="4524500" y="6092424"/>
            <a:ext cx="905799" cy="619603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002913A3-2578-615E-F16A-439EDC01EC02}"/>
              </a:ext>
            </a:extLst>
          </p:cNvPr>
          <p:cNvCxnSpPr>
            <a:stCxn id="21" idx="0"/>
            <a:endCxn id="23" idx="1"/>
          </p:cNvCxnSpPr>
          <p:nvPr/>
        </p:nvCxnSpPr>
        <p:spPr>
          <a:xfrm rot="5400000" flipH="1" flipV="1">
            <a:off x="6521914" y="4645931"/>
            <a:ext cx="1679105" cy="1483586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C31244A6-92C7-0051-4574-1B0E9F98AA7D}"/>
              </a:ext>
            </a:extLst>
          </p:cNvPr>
          <p:cNvCxnSpPr>
            <a:stCxn id="28" idx="2"/>
            <a:endCxn id="26" idx="1"/>
          </p:cNvCxnSpPr>
          <p:nvPr/>
        </p:nvCxnSpPr>
        <p:spPr>
          <a:xfrm rot="5400000" flipH="1" flipV="1">
            <a:off x="9962756" y="3036119"/>
            <a:ext cx="2979508" cy="4335788"/>
          </a:xfrm>
          <a:prstGeom prst="bentConnector4">
            <a:avLst>
              <a:gd name="adj1" fmla="val -7672"/>
              <a:gd name="adj2" fmla="val 92134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F81B9652-F046-0136-D25E-1A7A6FA9A2B8}"/>
              </a:ext>
            </a:extLst>
          </p:cNvPr>
          <p:cNvCxnSpPr>
            <a:stCxn id="27" idx="3"/>
            <a:endCxn id="26" idx="1"/>
          </p:cNvCxnSpPr>
          <p:nvPr/>
        </p:nvCxnSpPr>
        <p:spPr>
          <a:xfrm flipV="1">
            <a:off x="13073752" y="3714259"/>
            <a:ext cx="546652" cy="2404088"/>
          </a:xfrm>
          <a:prstGeom prst="bentConnector3">
            <a:avLst>
              <a:gd name="adj1" fmla="val 36061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24E63882-9560-198A-EC91-648F7176118E}"/>
              </a:ext>
            </a:extLst>
          </p:cNvPr>
          <p:cNvCxnSpPr>
            <a:endCxn id="28" idx="0"/>
          </p:cNvCxnSpPr>
          <p:nvPr/>
        </p:nvCxnSpPr>
        <p:spPr>
          <a:xfrm flipH="1">
            <a:off x="9284616" y="5204013"/>
            <a:ext cx="1319590" cy="348318"/>
          </a:xfrm>
          <a:prstGeom prst="lin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BDE2D86F-85D9-191C-7D66-3BD46E3701D7}"/>
              </a:ext>
            </a:extLst>
          </p:cNvPr>
          <p:cNvCxnSpPr>
            <a:endCxn id="27" idx="0"/>
          </p:cNvCxnSpPr>
          <p:nvPr/>
        </p:nvCxnSpPr>
        <p:spPr>
          <a:xfrm>
            <a:off x="10604206" y="5204013"/>
            <a:ext cx="1234773" cy="32509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D4DE25C5-6B19-F0C2-0651-A897196D4714}"/>
              </a:ext>
            </a:extLst>
          </p:cNvPr>
          <p:cNvCxnSpPr>
            <a:stCxn id="26" idx="3"/>
            <a:endCxn id="25" idx="3"/>
          </p:cNvCxnSpPr>
          <p:nvPr/>
        </p:nvCxnSpPr>
        <p:spPr>
          <a:xfrm flipH="1">
            <a:off x="17047497" y="3714259"/>
            <a:ext cx="2" cy="1405261"/>
          </a:xfrm>
          <a:prstGeom prst="bentConnector3">
            <a:avLst>
              <a:gd name="adj1" fmla="val -1143000000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1999"/>
            </a:stretch>
          </a:blipFill>
        </p:spPr>
        <p:txBody>
          <a:bodyPr/>
          <a:lstStyle/>
          <a:p>
            <a:endParaRPr lang="en-IN" dirty="0"/>
          </a:p>
        </p:txBody>
      </p:sp>
      <p:grpSp>
        <p:nvGrpSpPr>
          <p:cNvPr id="3" name="Group 3"/>
          <p:cNvGrpSpPr/>
          <p:nvPr/>
        </p:nvGrpSpPr>
        <p:grpSpPr>
          <a:xfrm>
            <a:off x="15313304" y="84973"/>
            <a:ext cx="2806865" cy="509892"/>
            <a:chOff x="0" y="0"/>
            <a:chExt cx="3742487" cy="67985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42436" cy="679831"/>
            </a:xfrm>
            <a:custGeom>
              <a:avLst/>
              <a:gdLst/>
              <a:ahLst/>
              <a:cxnLst/>
              <a:rect l="l" t="t" r="r" b="b"/>
              <a:pathLst>
                <a:path w="3742436" h="679831">
                  <a:moveTo>
                    <a:pt x="0" y="0"/>
                  </a:moveTo>
                  <a:lnTo>
                    <a:pt x="3742436" y="0"/>
                  </a:lnTo>
                  <a:lnTo>
                    <a:pt x="3742436" y="679831"/>
                  </a:lnTo>
                  <a:lnTo>
                    <a:pt x="0" y="6798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307" t="-129549" r="-17153" b="-132269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13922893" y="9847040"/>
            <a:ext cx="4114800" cy="547688"/>
            <a:chOff x="0" y="0"/>
            <a:chExt cx="5486400" cy="7302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486400" cy="730250"/>
            </a:xfrm>
            <a:custGeom>
              <a:avLst/>
              <a:gdLst/>
              <a:ahLst/>
              <a:cxn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96391" b="-96391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5486400" cy="730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67676"/>
                  </a:solidFill>
                  <a:latin typeface="Aptos"/>
                  <a:ea typeface="Aptos"/>
                  <a:cs typeface="Aptos"/>
                  <a:sym typeface="Aptos"/>
                </a:rPr>
                <a:t>4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3739534" y="121920"/>
            <a:ext cx="10351732" cy="970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 b="1">
                <a:solidFill>
                  <a:srgbClr val="00336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Tech Stack / Architecture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407920" y="9970770"/>
            <a:ext cx="13533120" cy="20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4"/>
              </a:lnSpc>
            </a:pPr>
            <a:r>
              <a:rPr lang="en-US" sz="1800" b="1" u="sng">
                <a:solidFill>
                  <a:srgbClr val="808080"/>
                </a:solidFill>
                <a:latin typeface="Aptos Bold"/>
                <a:ea typeface="Aptos Bold"/>
                <a:cs typeface="Aptos Bold"/>
                <a:sym typeface="Aptos Bold"/>
                <a:hlinkClick r:id="rId5" tooltip="https://craftathon.gu-tech.org/"/>
              </a:rPr>
              <a:t>craftathon.gu-tech.org </a:t>
            </a:r>
            <a:r>
              <a:rPr lang="en-US" sz="1800" b="1">
                <a:solidFill>
                  <a:srgbClr val="808080"/>
                </a:solidFill>
                <a:latin typeface="Aptos Bold"/>
                <a:ea typeface="Aptos Bold"/>
                <a:cs typeface="Aptos Bold"/>
                <a:sym typeface="Aptos Bold"/>
              </a:rPr>
              <a:t> |  </a:t>
            </a:r>
            <a:r>
              <a:rPr lang="en-US" sz="1800" b="1" u="sng">
                <a:solidFill>
                  <a:srgbClr val="808080"/>
                </a:solidFill>
                <a:latin typeface="Aptos Bold"/>
                <a:ea typeface="Aptos Bold"/>
                <a:cs typeface="Aptos Bold"/>
                <a:sym typeface="Aptos Bold"/>
                <a:hlinkClick r:id="rId6" tooltip="mailto:hackathon.info@gandhinagaruni.ac.in"/>
              </a:rPr>
              <a:t>hackathon.info@gandhinagaruni.ac.in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EB16B7A-8A5E-DFF2-5FB0-0A5F602CB6A4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85000"/>
          </a:blip>
          <a:stretch>
            <a:fillRect/>
          </a:stretch>
        </p:blipFill>
        <p:spPr>
          <a:xfrm>
            <a:off x="209202" y="91747"/>
            <a:ext cx="1981200" cy="1877515"/>
          </a:xfrm>
          <a:prstGeom prst="rect">
            <a:avLst/>
          </a:prstGeom>
        </p:spPr>
      </p:pic>
      <p:sp>
        <p:nvSpPr>
          <p:cNvPr id="33" name="AutoShape 44" descr="Uploaded image">
            <a:extLst>
              <a:ext uri="{FF2B5EF4-FFF2-40B4-BE49-F238E27FC236}">
                <a16:creationId xmlns:a16="http://schemas.microsoft.com/office/drawing/2014/main" id="{C94685D5-2314-EE05-317E-97CBBA8071A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077200" y="453580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D325D498-7005-76BF-B677-10681AF43C6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913" y="2089798"/>
            <a:ext cx="11342087" cy="633030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2050" name="Picture 2" descr="Claude AI Logo Rounded HD 67941712 PNG">
            <a:extLst>
              <a:ext uri="{FF2B5EF4-FFF2-40B4-BE49-F238E27FC236}">
                <a16:creationId xmlns:a16="http://schemas.microsoft.com/office/drawing/2014/main" id="{548E8D63-364D-BEEE-124B-54A7E22FCA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7296" y="6753549"/>
            <a:ext cx="481330" cy="4572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9DBCF1A5-1635-4EEA-A62D-0F4C7EC67EF9}"/>
              </a:ext>
            </a:extLst>
          </p:cNvPr>
          <p:cNvSpPr/>
          <p:nvPr/>
        </p:nvSpPr>
        <p:spPr>
          <a:xfrm>
            <a:off x="8937308" y="6652260"/>
            <a:ext cx="561976" cy="54864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052" name="Picture 4" descr="Google Antigravity Press Assets">
            <a:extLst>
              <a:ext uri="{FF2B5EF4-FFF2-40B4-BE49-F238E27FC236}">
                <a16:creationId xmlns:a16="http://schemas.microsoft.com/office/drawing/2014/main" id="{33C35876-2C5E-8573-2494-6393884B96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9021" y="6638925"/>
            <a:ext cx="561975" cy="561975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Grok Logo &amp; Brand Assets (SVG, PNG and vector) - Brandfetch">
            <a:extLst>
              <a:ext uri="{FF2B5EF4-FFF2-40B4-BE49-F238E27FC236}">
                <a16:creationId xmlns:a16="http://schemas.microsoft.com/office/drawing/2014/main" id="{341F4543-92F4-9A5A-ACBE-A9A14ED9F9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6753" y="6521026"/>
            <a:ext cx="593203" cy="593203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AE4E6A9-D317-06B0-4756-ECFDAC92ECA7}"/>
              </a:ext>
            </a:extLst>
          </p:cNvPr>
          <p:cNvSpPr/>
          <p:nvPr/>
        </p:nvSpPr>
        <p:spPr>
          <a:xfrm>
            <a:off x="12070711" y="1275188"/>
            <a:ext cx="5866311" cy="842602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2400" dirty="0"/>
              <a:t>CREW AI</a:t>
            </a:r>
            <a:endParaRPr lang="en-IN" sz="24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1C48FCA-41CD-965A-E06E-A0BDE34284E3}"/>
              </a:ext>
            </a:extLst>
          </p:cNvPr>
          <p:cNvSpPr/>
          <p:nvPr/>
        </p:nvSpPr>
        <p:spPr>
          <a:xfrm>
            <a:off x="12649200" y="2033378"/>
            <a:ext cx="4701310" cy="7846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/>
              <a:t>service_get_trends</a:t>
            </a:r>
            <a:endParaRPr lang="en-IN" dirty="0"/>
          </a:p>
          <a:p>
            <a:pPr algn="ctr"/>
            <a:r>
              <a:rPr lang="en-US" dirty="0"/>
              <a:t>Fetches trending data for a given topic and platform</a:t>
            </a:r>
            <a:endParaRPr lang="en-IN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68D39E2-2826-E39A-C884-C65432C78128}"/>
              </a:ext>
            </a:extLst>
          </p:cNvPr>
          <p:cNvSpPr/>
          <p:nvPr/>
        </p:nvSpPr>
        <p:spPr>
          <a:xfrm>
            <a:off x="12649200" y="3016727"/>
            <a:ext cx="4701310" cy="7773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/>
              <a:t>service_generate_hook</a:t>
            </a:r>
            <a:endParaRPr lang="en-IN" dirty="0"/>
          </a:p>
          <a:p>
            <a:pPr algn="ctr"/>
            <a:r>
              <a:rPr lang="en-IN" dirty="0"/>
              <a:t>Generates attention-grabbing content hooks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5A78DB8-DBEB-F1DC-D891-F632AD99A71E}"/>
              </a:ext>
            </a:extLst>
          </p:cNvPr>
          <p:cNvSpPr/>
          <p:nvPr/>
        </p:nvSpPr>
        <p:spPr>
          <a:xfrm>
            <a:off x="12662951" y="8359513"/>
            <a:ext cx="4673115" cy="9195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/>
              <a:t>service_generate_thumbnail</a:t>
            </a:r>
            <a:endParaRPr lang="en-IN" dirty="0"/>
          </a:p>
          <a:p>
            <a:pPr algn="ctr"/>
            <a:r>
              <a:rPr lang="en-US" dirty="0"/>
              <a:t>Generates a thumbnail for the content</a:t>
            </a:r>
            <a:endParaRPr lang="en-IN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EF1B297-9F6B-0DC5-C5FB-AE9E10F8A9FC}"/>
              </a:ext>
            </a:extLst>
          </p:cNvPr>
          <p:cNvSpPr/>
          <p:nvPr/>
        </p:nvSpPr>
        <p:spPr>
          <a:xfrm>
            <a:off x="12634756" y="4978299"/>
            <a:ext cx="4701310" cy="9104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/>
              <a:t>service_generate_hashtags</a:t>
            </a:r>
            <a:endParaRPr lang="en-IN" dirty="0"/>
          </a:p>
          <a:p>
            <a:pPr algn="ctr"/>
            <a:r>
              <a:rPr lang="en-US" dirty="0"/>
              <a:t>Generates hashtag sets grouped by type</a:t>
            </a:r>
            <a:endParaRPr lang="en-IN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A9E6E33-95F9-F5FE-D780-D94A5F781E2F}"/>
              </a:ext>
            </a:extLst>
          </p:cNvPr>
          <p:cNvSpPr/>
          <p:nvPr/>
        </p:nvSpPr>
        <p:spPr>
          <a:xfrm>
            <a:off x="12649200" y="3930177"/>
            <a:ext cx="4701310" cy="9104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/>
              <a:t>service_generate_caption</a:t>
            </a:r>
            <a:endParaRPr lang="en-IN" dirty="0"/>
          </a:p>
          <a:p>
            <a:pPr algn="ctr"/>
            <a:r>
              <a:rPr lang="en-IN" dirty="0"/>
              <a:t>Generates captions for posts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B6020C3-57D8-C2E5-09CB-CC6EFF7B68E7}"/>
              </a:ext>
            </a:extLst>
          </p:cNvPr>
          <p:cNvSpPr/>
          <p:nvPr/>
        </p:nvSpPr>
        <p:spPr>
          <a:xfrm>
            <a:off x="12678191" y="6041314"/>
            <a:ext cx="4701310" cy="9904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/>
              <a:t>service_predict_virality</a:t>
            </a:r>
            <a:endParaRPr lang="en-IN" dirty="0"/>
          </a:p>
          <a:p>
            <a:pPr algn="ctr"/>
            <a:r>
              <a:rPr lang="en-US" dirty="0"/>
              <a:t>Predicts how viral content will perform</a:t>
            </a:r>
            <a:endParaRPr lang="en-IN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BE07ABD-EC8B-3F82-C892-E67A8E58AC23}"/>
              </a:ext>
            </a:extLst>
          </p:cNvPr>
          <p:cNvSpPr/>
          <p:nvPr/>
        </p:nvSpPr>
        <p:spPr>
          <a:xfrm>
            <a:off x="12678191" y="7167699"/>
            <a:ext cx="4702799" cy="9904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/>
              <a:t>service_generate_strategy</a:t>
            </a:r>
            <a:endParaRPr lang="en-IN" dirty="0"/>
          </a:p>
          <a:p>
            <a:pPr algn="ctr"/>
            <a:r>
              <a:rPr lang="en-US" dirty="0"/>
              <a:t>Generates a full content posting strategy</a:t>
            </a:r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1999"/>
            </a:stretch>
          </a:blipFill>
        </p:spPr>
        <p:txBody>
          <a:bodyPr/>
          <a:lstStyle/>
          <a:p>
            <a:endParaRPr lang="en-IN" dirty="0"/>
          </a:p>
        </p:txBody>
      </p:sp>
      <p:grpSp>
        <p:nvGrpSpPr>
          <p:cNvPr id="3" name="Group 3"/>
          <p:cNvGrpSpPr/>
          <p:nvPr/>
        </p:nvGrpSpPr>
        <p:grpSpPr>
          <a:xfrm>
            <a:off x="15313304" y="84973"/>
            <a:ext cx="2806865" cy="509892"/>
            <a:chOff x="0" y="0"/>
            <a:chExt cx="3742487" cy="67985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42436" cy="679831"/>
            </a:xfrm>
            <a:custGeom>
              <a:avLst/>
              <a:gdLst/>
              <a:ahLst/>
              <a:cxnLst/>
              <a:rect l="l" t="t" r="r" b="b"/>
              <a:pathLst>
                <a:path w="3742436" h="679831">
                  <a:moveTo>
                    <a:pt x="0" y="0"/>
                  </a:moveTo>
                  <a:lnTo>
                    <a:pt x="3742436" y="0"/>
                  </a:lnTo>
                  <a:lnTo>
                    <a:pt x="3742436" y="679831"/>
                  </a:lnTo>
                  <a:lnTo>
                    <a:pt x="0" y="6798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307" t="-129549" r="-17153" b="-132269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13922893" y="9847040"/>
            <a:ext cx="4114800" cy="547688"/>
            <a:chOff x="0" y="0"/>
            <a:chExt cx="5486400" cy="7302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486400" cy="730250"/>
            </a:xfrm>
            <a:custGeom>
              <a:avLst/>
              <a:gdLst/>
              <a:ahLst/>
              <a:cxn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96391" b="-96391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5486400" cy="730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67676"/>
                  </a:solidFill>
                  <a:latin typeface="Aptos"/>
                  <a:ea typeface="Aptos"/>
                  <a:cs typeface="Aptos"/>
                  <a:sym typeface="Aptos"/>
                </a:rPr>
                <a:t>5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4239844" y="128588"/>
            <a:ext cx="9808321" cy="970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 b="1" dirty="0">
                <a:solidFill>
                  <a:srgbClr val="00336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Demo / Implementation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407920" y="9970770"/>
            <a:ext cx="13533120" cy="20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4"/>
              </a:lnSpc>
            </a:pPr>
            <a:r>
              <a:rPr lang="en-US" sz="1800" b="1" u="sng">
                <a:solidFill>
                  <a:srgbClr val="808080"/>
                </a:solidFill>
                <a:latin typeface="Aptos Bold"/>
                <a:ea typeface="Aptos Bold"/>
                <a:cs typeface="Aptos Bold"/>
                <a:sym typeface="Aptos Bold"/>
                <a:hlinkClick r:id="rId5" tooltip="https://craftathon.gu-tech.org/"/>
              </a:rPr>
              <a:t>craftathon.gu-tech.org </a:t>
            </a:r>
            <a:r>
              <a:rPr lang="en-US" sz="1800" b="1">
                <a:solidFill>
                  <a:srgbClr val="808080"/>
                </a:solidFill>
                <a:latin typeface="Aptos Bold"/>
                <a:ea typeface="Aptos Bold"/>
                <a:cs typeface="Aptos Bold"/>
                <a:sym typeface="Aptos Bold"/>
              </a:rPr>
              <a:t> |  </a:t>
            </a:r>
            <a:r>
              <a:rPr lang="en-US" sz="1800" b="1" u="sng">
                <a:solidFill>
                  <a:srgbClr val="808080"/>
                </a:solidFill>
                <a:latin typeface="Aptos Bold"/>
                <a:ea typeface="Aptos Bold"/>
                <a:cs typeface="Aptos Bold"/>
                <a:sym typeface="Aptos Bold"/>
                <a:hlinkClick r:id="rId6" tooltip="mailto:hackathon.info@gandhinagaruni.ac.in"/>
              </a:rPr>
              <a:t>hackathon.info@gandhinagaruni.ac.in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8025098-4BAF-5F17-2815-EFFF6B2ACD01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85000"/>
          </a:blip>
          <a:stretch>
            <a:fillRect/>
          </a:stretch>
        </p:blipFill>
        <p:spPr>
          <a:xfrm>
            <a:off x="167869" y="3493"/>
            <a:ext cx="1533111" cy="1452876"/>
          </a:xfrm>
          <a:prstGeom prst="rect">
            <a:avLst/>
          </a:prstGeom>
        </p:spPr>
      </p:pic>
      <p:sp>
        <p:nvSpPr>
          <p:cNvPr id="17" name="Rectangle: Diagonal Corners Rounded 16">
            <a:extLst>
              <a:ext uri="{FF2B5EF4-FFF2-40B4-BE49-F238E27FC236}">
                <a16:creationId xmlns:a16="http://schemas.microsoft.com/office/drawing/2014/main" id="{3D98725F-464D-C943-0F72-3982A10D7B75}"/>
              </a:ext>
            </a:extLst>
          </p:cNvPr>
          <p:cNvSpPr/>
          <p:nvPr/>
        </p:nvSpPr>
        <p:spPr>
          <a:xfrm>
            <a:off x="676102" y="1268039"/>
            <a:ext cx="16468898" cy="4223689"/>
          </a:xfrm>
          <a:prstGeom prst="round2Diag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A188B1A-A73D-E774-F4EB-A1841589C0DC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310"/>
          <a:stretch>
            <a:fillRect/>
          </a:stretch>
        </p:blipFill>
        <p:spPr>
          <a:xfrm>
            <a:off x="7616509" y="1343122"/>
            <a:ext cx="4346891" cy="407352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1241FA1-67C5-771F-7740-6ECB9B1F5CE8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051"/>
          <a:stretch>
            <a:fillRect/>
          </a:stretch>
        </p:blipFill>
        <p:spPr>
          <a:xfrm>
            <a:off x="1600200" y="1343123"/>
            <a:ext cx="5746984" cy="4073523"/>
          </a:xfrm>
          <a:prstGeom prst="rect">
            <a:avLst/>
          </a:prstGeom>
        </p:spPr>
      </p:pic>
      <p:sp>
        <p:nvSpPr>
          <p:cNvPr id="18" name="Rectangle: Diagonal Corners Rounded 17">
            <a:extLst>
              <a:ext uri="{FF2B5EF4-FFF2-40B4-BE49-F238E27FC236}">
                <a16:creationId xmlns:a16="http://schemas.microsoft.com/office/drawing/2014/main" id="{946A2B0A-A56E-340F-72F7-D35A5942DBE9}"/>
              </a:ext>
            </a:extLst>
          </p:cNvPr>
          <p:cNvSpPr/>
          <p:nvPr/>
        </p:nvSpPr>
        <p:spPr>
          <a:xfrm>
            <a:off x="676102" y="5644211"/>
            <a:ext cx="16468898" cy="4223689"/>
          </a:xfrm>
          <a:prstGeom prst="round2Diag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F50F3AE-D082-F5C6-A768-F05BD5CAE14F}"/>
              </a:ext>
            </a:extLst>
          </p:cNvPr>
          <p:cNvSpPr/>
          <p:nvPr/>
        </p:nvSpPr>
        <p:spPr>
          <a:xfrm rot="16200000">
            <a:off x="-326807" y="2960656"/>
            <a:ext cx="3096127" cy="8123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dirty="0"/>
              <a:t>BACKEND</a:t>
            </a:r>
            <a:endParaRPr lang="en-IN" sz="4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02938E8-4B7D-6EB2-7DD7-A17D513AA24E}"/>
              </a:ext>
            </a:extLst>
          </p:cNvPr>
          <p:cNvSpPr txBox="1"/>
          <p:nvPr/>
        </p:nvSpPr>
        <p:spPr>
          <a:xfrm>
            <a:off x="12126911" y="1474010"/>
            <a:ext cx="479710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The terminal shows the </a:t>
            </a:r>
            <a:r>
              <a:rPr lang="en-IN" sz="2400" b="1" dirty="0" err="1"/>
              <a:t>CrewAI</a:t>
            </a:r>
            <a:r>
              <a:rPr lang="en-IN" sz="2400" b="1" dirty="0"/>
              <a:t> multi-agent pipeline</a:t>
            </a:r>
            <a:r>
              <a:rPr lang="en-IN" sz="2400" dirty="0"/>
              <a:t> running for an Instagram Reel on topic </a:t>
            </a:r>
            <a:r>
              <a:rPr lang="en-IN" sz="2400" b="1" dirty="0"/>
              <a:t>"AIML Model"</a:t>
            </a:r>
            <a:r>
              <a:rPr lang="en-IN" sz="2400" dirty="0"/>
              <a:t>. </a:t>
            </a:r>
            <a:r>
              <a:rPr lang="en-IN" sz="2400" dirty="0" err="1"/>
              <a:t>Groq</a:t>
            </a:r>
            <a:r>
              <a:rPr lang="en-IN" sz="2400" dirty="0"/>
              <a:t> models are active, Claude is offline, so the system auto-selects </a:t>
            </a:r>
            <a:r>
              <a:rPr lang="en-IN" sz="2400" dirty="0" err="1"/>
              <a:t>Groq</a:t>
            </a:r>
            <a:r>
              <a:rPr lang="en-IN" sz="2400" dirty="0"/>
              <a:t>. It loads Instagram's platform skillset — Reel (9:16), 15–30s, 10 hashtags, best post times (08:00, 12:00, 19:00 UTC) — and begins executing agents sequentially.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40E9EDE-7994-E4FF-F918-FAD99C6AD323}"/>
              </a:ext>
            </a:extLst>
          </p:cNvPr>
          <p:cNvSpPr txBox="1"/>
          <p:nvPr/>
        </p:nvSpPr>
        <p:spPr>
          <a:xfrm>
            <a:off x="815075" y="5905500"/>
            <a:ext cx="414479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dashboard delivers real-time trend intelligence, AI-generated hooks, captions, hashtags, virality scores, and thumbnails — all from a clean, modular interface. Each feature runs as an independent AI agent, giving creators platform-specific, audience-aware content in seconds.</a:t>
            </a:r>
            <a:endParaRPr lang="en-IN" sz="24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651C04-7B36-F2DE-165E-65B7FB99C985}"/>
              </a:ext>
            </a:extLst>
          </p:cNvPr>
          <p:cNvSpPr/>
          <p:nvPr/>
        </p:nvSpPr>
        <p:spPr>
          <a:xfrm rot="16200000">
            <a:off x="15164567" y="7263204"/>
            <a:ext cx="3096127" cy="8123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dirty="0"/>
              <a:t>FRONTEND</a:t>
            </a:r>
            <a:endParaRPr lang="en-IN" sz="40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F329BBF3-9294-6E66-2F3F-139A0EB38F9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686" b="323"/>
          <a:stretch>
            <a:fillRect/>
          </a:stretch>
        </p:blipFill>
        <p:spPr>
          <a:xfrm>
            <a:off x="5050045" y="5697302"/>
            <a:ext cx="5770355" cy="4117505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622CD67D-9036-E34B-C4F4-97D84FE7DBB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132"/>
          <a:stretch>
            <a:fillRect/>
          </a:stretch>
        </p:blipFill>
        <p:spPr>
          <a:xfrm>
            <a:off x="10851381" y="5697302"/>
            <a:ext cx="5607819" cy="41175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1999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5313304" y="84973"/>
            <a:ext cx="2806865" cy="509892"/>
            <a:chOff x="0" y="0"/>
            <a:chExt cx="3742487" cy="67985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42436" cy="679831"/>
            </a:xfrm>
            <a:custGeom>
              <a:avLst/>
              <a:gdLst/>
              <a:ahLst/>
              <a:cxnLst/>
              <a:rect l="l" t="t" r="r" b="b"/>
              <a:pathLst>
                <a:path w="3742436" h="679831">
                  <a:moveTo>
                    <a:pt x="0" y="0"/>
                  </a:moveTo>
                  <a:lnTo>
                    <a:pt x="3742436" y="0"/>
                  </a:lnTo>
                  <a:lnTo>
                    <a:pt x="3742436" y="679831"/>
                  </a:lnTo>
                  <a:lnTo>
                    <a:pt x="0" y="6798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307" t="-129549" r="-17153" b="-132269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13922893" y="9847040"/>
            <a:ext cx="4114800" cy="547688"/>
            <a:chOff x="0" y="0"/>
            <a:chExt cx="5486400" cy="7302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486400" cy="730250"/>
            </a:xfrm>
            <a:custGeom>
              <a:avLst/>
              <a:gdLst/>
              <a:ahLst/>
              <a:cxn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96391" b="-96391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5486400" cy="730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767676"/>
                  </a:solidFill>
                  <a:latin typeface="Aptos"/>
                  <a:ea typeface="Aptos"/>
                  <a:cs typeface="Aptos"/>
                  <a:sym typeface="Aptos"/>
                </a:rPr>
                <a:t>7</a:t>
              </a:r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2CB87785-C525-7BE6-9FD6-968C9A3A7A9F}"/>
              </a:ext>
            </a:extLst>
          </p:cNvPr>
          <p:cNvSpPr/>
          <p:nvPr/>
        </p:nvSpPr>
        <p:spPr>
          <a:xfrm>
            <a:off x="868680" y="6667500"/>
            <a:ext cx="16611600" cy="19812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1"/>
          <p:cNvSpPr txBox="1"/>
          <p:nvPr/>
        </p:nvSpPr>
        <p:spPr>
          <a:xfrm>
            <a:off x="5065049" y="84973"/>
            <a:ext cx="8157901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 b="1" dirty="0">
                <a:solidFill>
                  <a:srgbClr val="00336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From Idea to Impact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68680" y="1915565"/>
            <a:ext cx="16611600" cy="64558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88"/>
              </a:lnSpc>
            </a:pPr>
            <a:r>
              <a:rPr lang="en-IN" sz="2800" dirty="0"/>
              <a:t>   </a:t>
            </a:r>
            <a:r>
              <a:rPr lang="en-IN" sz="2800" u="sng" dirty="0"/>
              <a:t>CHALLENGES:</a:t>
            </a:r>
          </a:p>
          <a:p>
            <a:pPr marL="244316" lvl="1">
              <a:lnSpc>
                <a:spcPts val="2916"/>
              </a:lnSpc>
            </a:pPr>
            <a:endParaRPr lang="en-IN" sz="2800" u="sng" dirty="0"/>
          </a:p>
          <a:p>
            <a:pPr marL="244316" lvl="1">
              <a:lnSpc>
                <a:spcPts val="2916"/>
              </a:lnSpc>
            </a:pPr>
            <a:r>
              <a:rPr lang="en-IN" sz="2800" dirty="0"/>
              <a:t>⚠️ Finding reliable real-time APIs  </a:t>
            </a:r>
          </a:p>
          <a:p>
            <a:pPr marL="244316" lvl="1">
              <a:lnSpc>
                <a:spcPts val="2916"/>
              </a:lnSpc>
            </a:pPr>
            <a:r>
              <a:rPr lang="en-IN" sz="2800" dirty="0"/>
              <a:t>⚠️ Slow AI model response times  </a:t>
            </a:r>
          </a:p>
          <a:p>
            <a:pPr marL="244316" lvl="1">
              <a:lnSpc>
                <a:spcPts val="2916"/>
              </a:lnSpc>
            </a:pPr>
            <a:r>
              <a:rPr lang="en-IN" sz="2800" dirty="0"/>
              <a:t>⚠️ Handling cross-platform data consistency  </a:t>
            </a:r>
          </a:p>
          <a:p>
            <a:pPr marL="244316" lvl="1">
              <a:lnSpc>
                <a:spcPts val="2916"/>
              </a:lnSpc>
            </a:pPr>
            <a:r>
              <a:rPr lang="en-IN" sz="2800" dirty="0"/>
              <a:t>⚠️ Ensuring accurate virality predictions </a:t>
            </a:r>
          </a:p>
          <a:p>
            <a:pPr marL="244316" lvl="1">
              <a:lnSpc>
                <a:spcPts val="2916"/>
              </a:lnSpc>
            </a:pPr>
            <a:endParaRPr lang="en-US" sz="2800" dirty="0"/>
          </a:p>
          <a:p>
            <a:pPr marL="244316" lvl="1">
              <a:lnSpc>
                <a:spcPts val="2916"/>
              </a:lnSpc>
            </a:pPr>
            <a:r>
              <a:rPr lang="en-IN" sz="2800" u="sng" dirty="0"/>
              <a:t>IMPACT:</a:t>
            </a:r>
          </a:p>
          <a:p>
            <a:pPr marL="244316" lvl="1">
              <a:lnSpc>
                <a:spcPts val="2916"/>
              </a:lnSpc>
            </a:pPr>
            <a:br>
              <a:rPr lang="en-US" sz="27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</a:br>
            <a:r>
              <a:rPr lang="en-US" sz="27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⚡ Faster content creation  </a:t>
            </a:r>
          </a:p>
          <a:p>
            <a:pPr marL="244316" lvl="1">
              <a:lnSpc>
                <a:spcPts val="2916"/>
              </a:lnSpc>
            </a:pPr>
            <a:r>
              <a:rPr lang="en-US" sz="27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📈 Higher engagement  </a:t>
            </a:r>
          </a:p>
          <a:p>
            <a:pPr marL="244316" lvl="1">
              <a:lnSpc>
                <a:spcPts val="2916"/>
              </a:lnSpc>
            </a:pPr>
            <a:r>
              <a:rPr lang="en-US" sz="27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🧠 Data-driven decisions </a:t>
            </a:r>
          </a:p>
          <a:p>
            <a:pPr marL="244316" lvl="1">
              <a:lnSpc>
                <a:spcPts val="2916"/>
              </a:lnSpc>
            </a:pPr>
            <a:endParaRPr lang="en-US" sz="2700" dirty="0">
              <a:solidFill>
                <a:srgbClr val="000000"/>
              </a:solidFill>
              <a:latin typeface="Aptos"/>
              <a:ea typeface="Aptos"/>
              <a:cs typeface="Aptos"/>
              <a:sym typeface="Aptos"/>
            </a:endParaRPr>
          </a:p>
          <a:p>
            <a:pPr marL="244316" lvl="1" algn="l">
              <a:lnSpc>
                <a:spcPts val="2916"/>
              </a:lnSpc>
            </a:pPr>
            <a:r>
              <a:rPr lang="en-US" sz="2700" b="1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Key achievements:</a:t>
            </a:r>
            <a:r>
              <a:rPr lang="en-US" sz="27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 MVP ready, tests done, validation received</a:t>
            </a:r>
            <a:br>
              <a:rPr lang="en-US" sz="27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</a:br>
            <a:br>
              <a:rPr lang="en-US" sz="27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</a:br>
            <a:r>
              <a:rPr lang="en-US" sz="2700" b="1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Future Scope &amp; Scalability:</a:t>
            </a:r>
            <a:r>
              <a:rPr lang="en-US" sz="27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 </a:t>
            </a:r>
            <a:r>
              <a:rPr lang="en-US" sz="2800" dirty="0"/>
              <a:t>Can scale into a cross-platform AI marketing suite with advanced personalization, automated campaign execution, and integration with emerging social and creator ecosystems.</a:t>
            </a:r>
            <a:endParaRPr lang="en-US" sz="2700" dirty="0">
              <a:solidFill>
                <a:srgbClr val="000000"/>
              </a:solidFill>
              <a:latin typeface="Aptos"/>
              <a:ea typeface="Aptos"/>
              <a:cs typeface="Aptos"/>
              <a:sym typeface="Aptos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2407920" y="9970770"/>
            <a:ext cx="13533120" cy="20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4"/>
              </a:lnSpc>
            </a:pPr>
            <a:r>
              <a:rPr lang="en-US" sz="1800" b="1" u="sng">
                <a:solidFill>
                  <a:srgbClr val="808080"/>
                </a:solidFill>
                <a:latin typeface="Aptos Bold"/>
                <a:ea typeface="Aptos Bold"/>
                <a:cs typeface="Aptos Bold"/>
                <a:sym typeface="Aptos Bold"/>
                <a:hlinkClick r:id="rId5" tooltip="https://craftathon.gu-tech.org/"/>
              </a:rPr>
              <a:t>craftathon.gu-tech.org </a:t>
            </a:r>
            <a:r>
              <a:rPr lang="en-US" sz="1800" b="1">
                <a:solidFill>
                  <a:srgbClr val="808080"/>
                </a:solidFill>
                <a:latin typeface="Aptos Bold"/>
                <a:ea typeface="Aptos Bold"/>
                <a:cs typeface="Aptos Bold"/>
                <a:sym typeface="Aptos Bold"/>
              </a:rPr>
              <a:t> |  </a:t>
            </a:r>
            <a:r>
              <a:rPr lang="en-US" sz="1800" b="1" u="sng">
                <a:solidFill>
                  <a:srgbClr val="808080"/>
                </a:solidFill>
                <a:latin typeface="Aptos Bold"/>
                <a:ea typeface="Aptos Bold"/>
                <a:cs typeface="Aptos Bold"/>
                <a:sym typeface="Aptos Bold"/>
                <a:hlinkClick r:id="rId6" tooltip="mailto:hackathon.info@gandhinagaruni.ac.in"/>
              </a:rPr>
              <a:t>hackathon.info@gandhinagaruni.ac.in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E1A47AD-9CF4-A0BE-A768-9D3F9330C4EF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85000"/>
          </a:blip>
          <a:stretch>
            <a:fillRect/>
          </a:stretch>
        </p:blipFill>
        <p:spPr>
          <a:xfrm>
            <a:off x="361602" y="244147"/>
            <a:ext cx="1981200" cy="187751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C714EB0-9CCB-B65C-9C6B-12183CF7334F}"/>
              </a:ext>
            </a:extLst>
          </p:cNvPr>
          <p:cNvSpPr txBox="1"/>
          <p:nvPr/>
        </p:nvSpPr>
        <p:spPr>
          <a:xfrm>
            <a:off x="5410199" y="8914551"/>
            <a:ext cx="7467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Let’s Collaborate  &amp; Innovate Together!!</a:t>
            </a:r>
          </a:p>
        </p:txBody>
      </p:sp>
      <p:sp>
        <p:nvSpPr>
          <p:cNvPr id="9" name="TextBox 12">
            <a:extLst>
              <a:ext uri="{FF2B5EF4-FFF2-40B4-BE49-F238E27FC236}">
                <a16:creationId xmlns:a16="http://schemas.microsoft.com/office/drawing/2014/main" id="{9B2174B6-4CAA-E086-B467-2BF1F9D0789F}"/>
              </a:ext>
            </a:extLst>
          </p:cNvPr>
          <p:cNvSpPr txBox="1"/>
          <p:nvPr/>
        </p:nvSpPr>
        <p:spPr>
          <a:xfrm>
            <a:off x="8991600" y="1915565"/>
            <a:ext cx="8157901" cy="49657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88"/>
              </a:lnSpc>
            </a:pPr>
            <a:r>
              <a:rPr lang="en-IN" sz="2800" dirty="0"/>
              <a:t>   </a:t>
            </a:r>
            <a:r>
              <a:rPr lang="en-IN" sz="2800" u="sng" dirty="0"/>
              <a:t>FUTURE:</a:t>
            </a:r>
          </a:p>
          <a:p>
            <a:pPr marL="244316" lvl="1">
              <a:lnSpc>
                <a:spcPts val="2916"/>
              </a:lnSpc>
            </a:pPr>
            <a:endParaRPr lang="en-IN" sz="2800" u="sng" dirty="0"/>
          </a:p>
          <a:p>
            <a:pPr marL="244316" lvl="1">
              <a:lnSpc>
                <a:spcPts val="2916"/>
              </a:lnSpc>
            </a:pPr>
            <a:r>
              <a:rPr lang="en-US" sz="2800" dirty="0"/>
              <a:t>🤖 Advanced personalization  </a:t>
            </a:r>
          </a:p>
          <a:p>
            <a:pPr marL="244316" lvl="1">
              <a:lnSpc>
                <a:spcPts val="2916"/>
              </a:lnSpc>
            </a:pPr>
            <a:r>
              <a:rPr lang="en-US" sz="2800" dirty="0"/>
              <a:t>📊 Smarter predictions  </a:t>
            </a:r>
          </a:p>
          <a:p>
            <a:pPr marL="244316" lvl="1">
              <a:lnSpc>
                <a:spcPts val="2916"/>
              </a:lnSpc>
            </a:pPr>
            <a:r>
              <a:rPr lang="en-US" sz="2800" dirty="0"/>
              <a:t>🔗 Full cross-platform automation </a:t>
            </a:r>
          </a:p>
          <a:p>
            <a:pPr marL="244316" lvl="1">
              <a:lnSpc>
                <a:spcPts val="2916"/>
              </a:lnSpc>
            </a:pPr>
            <a:endParaRPr lang="en-US" sz="2800" dirty="0">
              <a:sym typeface="Aptos"/>
            </a:endParaRPr>
          </a:p>
          <a:p>
            <a:pPr marL="244316" lvl="1">
              <a:lnSpc>
                <a:spcPts val="2916"/>
              </a:lnSpc>
            </a:pPr>
            <a:r>
              <a:rPr lang="en-IN" sz="2800" u="sng" dirty="0"/>
              <a:t>UNIQUE VALUE:</a:t>
            </a:r>
          </a:p>
          <a:p>
            <a:pPr marL="244316" lvl="1">
              <a:lnSpc>
                <a:spcPts val="2916"/>
              </a:lnSpc>
            </a:pPr>
            <a:endParaRPr lang="en-IN" sz="2800" u="sng" dirty="0">
              <a:solidFill>
                <a:srgbClr val="000000"/>
              </a:solidFill>
              <a:latin typeface="Aptos"/>
              <a:ea typeface="Aptos"/>
              <a:cs typeface="Aptos"/>
              <a:sym typeface="Aptos"/>
            </a:endParaRPr>
          </a:p>
          <a:p>
            <a:pPr marL="244316" lvl="1">
              <a:lnSpc>
                <a:spcPts val="2916"/>
              </a:lnSpc>
            </a:pPr>
            <a:r>
              <a:rPr lang="en-US" sz="28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🔹 Real-time + predictive (not post-analysis)</a:t>
            </a:r>
          </a:p>
          <a:p>
            <a:pPr marL="244316" lvl="1">
              <a:lnSpc>
                <a:spcPts val="2916"/>
              </a:lnSpc>
            </a:pPr>
            <a:r>
              <a:rPr lang="en-US" sz="28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🔹 End-to-end pipeline (trend → content → strategy)</a:t>
            </a:r>
          </a:p>
          <a:p>
            <a:pPr marL="244316" lvl="1">
              <a:lnSpc>
                <a:spcPts val="2916"/>
              </a:lnSpc>
            </a:pPr>
            <a:r>
              <a:rPr lang="en-US" sz="28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🔹 Cross-platform intelligence in one system</a:t>
            </a:r>
          </a:p>
          <a:p>
            <a:pPr marL="244316" lvl="1">
              <a:lnSpc>
                <a:spcPts val="2916"/>
              </a:lnSpc>
            </a:pPr>
            <a:br>
              <a:rPr lang="en-US" sz="27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</a:br>
            <a:endParaRPr lang="en-US" sz="2700" dirty="0">
              <a:solidFill>
                <a:srgbClr val="000000"/>
              </a:solidFill>
              <a:latin typeface="Aptos"/>
              <a:ea typeface="Aptos"/>
              <a:cs typeface="Aptos"/>
              <a:sym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568</TotalTime>
  <Words>911</Words>
  <Application>Microsoft Office PowerPoint</Application>
  <PresentationFormat>Custom</PresentationFormat>
  <Paragraphs>127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Aptos Bold</vt:lpstr>
      <vt:lpstr>Calibri</vt:lpstr>
      <vt:lpstr>Montserrat Bold</vt:lpstr>
      <vt:lpstr>Arial Bold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Craftathon.pptx</dc:title>
  <dc:creator>Lenovo</dc:creator>
  <cp:lastModifiedBy>Eklavya Jha</cp:lastModifiedBy>
  <cp:revision>11</cp:revision>
  <dcterms:created xsi:type="dcterms:W3CDTF">2006-08-16T00:00:00Z</dcterms:created>
  <dcterms:modified xsi:type="dcterms:W3CDTF">2026-04-06T14:54:34Z</dcterms:modified>
  <dc:identifier>DAHEZ9uewgA</dc:identifier>
</cp:coreProperties>
</file>